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309" r:id="rId2"/>
    <p:sldId id="258" r:id="rId3"/>
    <p:sldId id="259" r:id="rId4"/>
    <p:sldId id="260" r:id="rId5"/>
    <p:sldId id="261" r:id="rId6"/>
    <p:sldId id="303" r:id="rId7"/>
    <p:sldId id="302" r:id="rId8"/>
    <p:sldId id="304" r:id="rId9"/>
    <p:sldId id="305" r:id="rId10"/>
    <p:sldId id="310" r:id="rId11"/>
    <p:sldId id="311" r:id="rId12"/>
    <p:sldId id="313" r:id="rId13"/>
    <p:sldId id="314" r:id="rId14"/>
    <p:sldId id="315" r:id="rId15"/>
    <p:sldId id="306" r:id="rId16"/>
    <p:sldId id="316" r:id="rId17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41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23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E8CD05-C869-4305-A0B8-70DB9F0BCFAA}" type="datetimeFigureOut">
              <a:rPr lang="es-PE" smtClean="0"/>
              <a:t>03/07/2026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DB46C1-3662-4313-BC64-326813FFB95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10891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DB46C1-3662-4313-BC64-326813FFB951}" type="slidenum">
              <a:rPr lang="es-PE" smtClean="0"/>
              <a:t>12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547313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D62CFF-50ED-B1C9-CC63-9E1690E519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D8C6A5E-3F81-2922-6C1C-DA2DC9BC77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099C8C4-792D-3C71-600A-036ED5826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57CB6-823C-4B5D-ACEC-0D88D283281E}" type="datetimeFigureOut">
              <a:rPr lang="es-PE" smtClean="0"/>
              <a:t>03/07/2026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C7A5C65-3C13-C9F6-0C5B-04DD438C4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CD9A565-9B5A-A52D-07F5-CD5836F88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DF778-3D36-41EF-9756-27A72AABD75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4999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00D656-7758-ADCA-9EE1-964B75AE7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7292FE5-F5D5-8338-2B84-FA37B40061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D8F473E-F797-B2C7-8FD8-57BBEE3A2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57CB6-823C-4B5D-ACEC-0D88D283281E}" type="datetimeFigureOut">
              <a:rPr lang="es-PE" smtClean="0"/>
              <a:t>03/07/2026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6B756E0-5D74-705C-8569-737E9E28F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73CBA81-F1DE-AA0B-7C75-17A1DA941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DF778-3D36-41EF-9756-27A72AABD75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02457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0CC5CB-E1F7-52BE-947F-6DE24F093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766816C-DB95-A6E0-C5FD-D6DE243697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AC573F2-94B6-1FDE-BD49-51E98A8C4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57CB6-823C-4B5D-ACEC-0D88D283281E}" type="datetimeFigureOut">
              <a:rPr lang="es-PE" smtClean="0"/>
              <a:t>03/07/2026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F12031E-3C3C-1461-8C55-C692F1845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28A3033-7009-6A53-5252-A148ED639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DF778-3D36-41EF-9756-27A72AABD75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53682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2207CA-59EC-09F8-AEE0-A2C54869A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747BFAD-ADA5-924E-354B-B20AEB86D2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E6A7D81-812F-4B31-7031-655F675C89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0E0159A-0D16-2A67-5CA4-B0232AE2C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57CB6-823C-4B5D-ACEC-0D88D283281E}" type="datetimeFigureOut">
              <a:rPr lang="es-PE" smtClean="0"/>
              <a:t>03/07/2026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1828EDB-0E29-26A2-8635-70AF35580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7BACE98-CE17-584B-AF55-B46B6B397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DF778-3D36-41EF-9756-27A72AABD75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002149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5596F7-6BE4-D110-30E4-4E8DAE9D3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4B91CF3-F470-2960-6829-644C29E091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FCA28B6-3B5E-C8B3-A5D6-85365275C1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3C96D15-534C-E61F-AF9B-693E299B1C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DB9A564-5A0D-C495-92E5-6F0F9C7C1F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F2090C9-797E-72B7-0408-DFC0CFD8E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57CB6-823C-4B5D-ACEC-0D88D283281E}" type="datetimeFigureOut">
              <a:rPr lang="es-PE" smtClean="0"/>
              <a:t>03/07/2026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4BE6AF9-F410-086C-34AA-D6930F50B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ED2E6CF-12A1-37DE-E1BF-7BC44C315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DF778-3D36-41EF-9756-27A72AABD75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4795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C73475-6939-38D1-8A94-15DEAD62D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FB45AD7-683A-D021-98AC-53807D350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57CB6-823C-4B5D-ACEC-0D88D283281E}" type="datetimeFigureOut">
              <a:rPr lang="es-PE" smtClean="0"/>
              <a:t>03/07/2026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45C0E1D-126E-DAF0-690D-E119C942C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1759914-B9C5-82E2-4945-4CA1B3A35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DF778-3D36-41EF-9756-27A72AABD75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59397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33E1750-8465-2978-B782-CE03A656F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57CB6-823C-4B5D-ACEC-0D88D283281E}" type="datetimeFigureOut">
              <a:rPr lang="es-PE" smtClean="0"/>
              <a:t>03/07/2026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125F38E-55F8-1E29-3240-F6691C212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44A6772-5A77-F19B-122D-52D09343B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DF778-3D36-41EF-9756-27A72AABD75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82479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07CB2D-375A-BF40-164B-A9B971178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F9CFCF4-8C27-D889-67D4-CA29D47D75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537C4D4-7BB9-FF36-D71C-1754C6D6D5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1C80E21-A720-E983-9B2E-C0B175531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57CB6-823C-4B5D-ACEC-0D88D283281E}" type="datetimeFigureOut">
              <a:rPr lang="es-PE" smtClean="0"/>
              <a:t>03/07/2026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4F769E1-0F2A-8240-17F6-124041633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A5F3DFD-CFE7-5015-2A15-1632B538A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DF778-3D36-41EF-9756-27A72AABD75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25807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361F67-8028-6DFA-2311-8B2F9EE5D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397F8D4-A515-AD8D-89C9-3140DC83FF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26A7CC5-108D-D18A-B873-3AC81CE28C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5B7FA31-93BE-DF8E-026B-BA3117765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57CB6-823C-4B5D-ACEC-0D88D283281E}" type="datetimeFigureOut">
              <a:rPr lang="es-PE" smtClean="0"/>
              <a:t>03/07/2026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6DA528B-2CF6-EF47-2059-776D85A2B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7EF8AE3-D21D-CC88-7052-E505B2A5F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DF778-3D36-41EF-9756-27A72AABD75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078492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2F593F-A5F9-764E-5923-E76C03691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220E21D-B6ED-C7C9-7FE2-89ED1C33E7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EC035DD-EE91-ED59-28FA-E5699A79C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57CB6-823C-4B5D-ACEC-0D88D283281E}" type="datetimeFigureOut">
              <a:rPr lang="es-PE" smtClean="0"/>
              <a:t>03/07/2026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153B050-811D-5494-6DEC-83BEC8587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B71F71B-9325-083A-5ABD-BAC7B5735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DF778-3D36-41EF-9756-27A72AABD75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05437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D941F21-DF14-E325-F43E-81CAA5529D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AA57AC7-7188-A6ED-9A3B-BA08D0F00D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2326F9F-64E4-7F56-BF12-0581F999F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57CB6-823C-4B5D-ACEC-0D88D283281E}" type="datetimeFigureOut">
              <a:rPr lang="es-PE" smtClean="0"/>
              <a:t>03/07/2026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CA1467E-6BF8-9207-5183-1D7704A25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B3BBEF4-AA09-2AF9-05B8-1C2BC6B60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DF778-3D36-41EF-9756-27A72AABD75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07294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14E74E5-D879-1596-DB14-EED47383B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A19BE81-E9B8-D523-B23C-17F93175E2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6F986EF-729E-29FB-2EE6-7395C7557D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257CB6-823C-4B5D-ACEC-0D88D283281E}" type="datetimeFigureOut">
              <a:rPr lang="es-PE" smtClean="0"/>
              <a:t>03/07/2026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515E721-6890-7CB2-9793-84FE6CCEBB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707C87E-9761-C2F7-D96F-CBEDB17FA6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FDF778-3D36-41EF-9756-27A72AABD75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55499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0968B-97FB-2F5A-FBFA-D2EF6120A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6CA37B5D-83A0-6C94-89BB-E6254428E043}"/>
              </a:ext>
            </a:extLst>
          </p:cNvPr>
          <p:cNvSpPr/>
          <p:nvPr/>
        </p:nvSpPr>
        <p:spPr>
          <a:xfrm>
            <a:off x="2332249" y="2842492"/>
            <a:ext cx="7527510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6000" dirty="0">
                <a:ln w="0"/>
                <a:solidFill>
                  <a:schemeClr val="accent5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CONCEPTO GENERAL</a:t>
            </a:r>
          </a:p>
        </p:txBody>
      </p:sp>
    </p:spTree>
    <p:extLst>
      <p:ext uri="{BB962C8B-B14F-4D97-AF65-F5344CB8AC3E}">
        <p14:creationId xmlns:p14="http://schemas.microsoft.com/office/powerpoint/2010/main" val="32299266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689A3-4C44-3512-3A47-E5C8326BD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errar llave 8">
            <a:extLst>
              <a:ext uri="{FF2B5EF4-FFF2-40B4-BE49-F238E27FC236}">
                <a16:creationId xmlns:a16="http://schemas.microsoft.com/office/drawing/2014/main" id="{50804BF9-AEBF-0223-6C81-011DB980AAD6}"/>
              </a:ext>
            </a:extLst>
          </p:cNvPr>
          <p:cNvSpPr/>
          <p:nvPr/>
        </p:nvSpPr>
        <p:spPr>
          <a:xfrm>
            <a:off x="8853863" y="297330"/>
            <a:ext cx="480463" cy="3823018"/>
          </a:xfrm>
          <a:prstGeom prst="rightBrace">
            <a:avLst>
              <a:gd name="adj1" fmla="val 8333"/>
              <a:gd name="adj2" fmla="val 48654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53E34386-F2A9-413E-6703-A36BA94313DF}"/>
              </a:ext>
            </a:extLst>
          </p:cNvPr>
          <p:cNvSpPr/>
          <p:nvPr/>
        </p:nvSpPr>
        <p:spPr>
          <a:xfrm>
            <a:off x="10163110" y="1602871"/>
            <a:ext cx="810095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Rules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1F73B86A-6309-DD9C-A899-740A9EA3699E}"/>
              </a:ext>
            </a:extLst>
          </p:cNvPr>
          <p:cNvSpPr/>
          <p:nvPr/>
        </p:nvSpPr>
        <p:spPr>
          <a:xfrm>
            <a:off x="4203269" y="674942"/>
            <a:ext cx="2685029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1400" dirty="0">
                <a:ln w="0"/>
                <a:solidFill>
                  <a:schemeClr val="accent5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Dato Inicia con (primer </a:t>
            </a:r>
            <a:r>
              <a:rPr lang="es-ES" sz="1400" dirty="0" err="1">
                <a:ln w="0"/>
                <a:solidFill>
                  <a:schemeClr val="accent5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caracter</a:t>
            </a:r>
            <a:r>
              <a:rPr lang="es-ES" sz="1400" dirty="0">
                <a:ln w="0"/>
                <a:solidFill>
                  <a:schemeClr val="accent5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</a:t>
            </a: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1E250E49-4983-4876-B9AA-84F15DBD7F8B}"/>
              </a:ext>
            </a:extLst>
          </p:cNvPr>
          <p:cNvGrpSpPr/>
          <p:nvPr/>
        </p:nvGrpSpPr>
        <p:grpSpPr>
          <a:xfrm>
            <a:off x="424982" y="2076806"/>
            <a:ext cx="3517137" cy="400110"/>
            <a:chOff x="472873" y="767109"/>
            <a:chExt cx="3517137" cy="400110"/>
          </a:xfrm>
        </p:grpSpPr>
        <p:sp>
          <p:nvSpPr>
            <p:cNvPr id="2" name="Rectángulo 1">
              <a:extLst>
                <a:ext uri="{FF2B5EF4-FFF2-40B4-BE49-F238E27FC236}">
                  <a16:creationId xmlns:a16="http://schemas.microsoft.com/office/drawing/2014/main" id="{BCF74857-76C3-56B1-371B-A174F55BA963}"/>
                </a:ext>
              </a:extLst>
            </p:cNvPr>
            <p:cNvSpPr/>
            <p:nvPr/>
          </p:nvSpPr>
          <p:spPr>
            <a:xfrm>
              <a:off x="472873" y="767109"/>
              <a:ext cx="3063146" cy="40011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s-ES" sz="2000" dirty="0">
                  <a:ln w="0"/>
                  <a:solidFill>
                    <a:srgbClr val="FF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R1 </a:t>
              </a:r>
              <a:r>
                <a:rPr lang="es-ES" sz="2000" dirty="0" err="1">
                  <a:ln w="0"/>
                  <a:solidFill>
                    <a:srgbClr val="FF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FareClass</a:t>
              </a:r>
              <a:r>
                <a:rPr lang="es-ES" sz="2000" dirty="0">
                  <a:ln w="0"/>
                  <a:solidFill>
                    <a:srgbClr val="FF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-&gt; </a:t>
              </a:r>
              <a:r>
                <a:rPr lang="es-ES" sz="2000" dirty="0" err="1">
                  <a:ln w="0"/>
                  <a:solidFill>
                    <a:srgbClr val="FF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FareBasis</a:t>
              </a:r>
              <a:endParaRPr lang="es-ES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113BBEFE-1D6D-163E-B01B-68B28EE7577E}"/>
                </a:ext>
              </a:extLst>
            </p:cNvPr>
            <p:cNvSpPr/>
            <p:nvPr/>
          </p:nvSpPr>
          <p:spPr>
            <a:xfrm>
              <a:off x="3669089" y="767109"/>
              <a:ext cx="320921" cy="40011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s-ES" sz="2000" dirty="0">
                  <a:ln w="0"/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1</a:t>
              </a:r>
            </a:p>
          </p:txBody>
        </p:sp>
      </p:grpSp>
      <p:grpSp>
        <p:nvGrpSpPr>
          <p:cNvPr id="3" name="Grupo 2">
            <a:extLst>
              <a:ext uri="{FF2B5EF4-FFF2-40B4-BE49-F238E27FC236}">
                <a16:creationId xmlns:a16="http://schemas.microsoft.com/office/drawing/2014/main" id="{51D12810-2D02-124D-BA62-77A1729AEE44}"/>
              </a:ext>
            </a:extLst>
          </p:cNvPr>
          <p:cNvGrpSpPr/>
          <p:nvPr/>
        </p:nvGrpSpPr>
        <p:grpSpPr>
          <a:xfrm>
            <a:off x="390388" y="2501959"/>
            <a:ext cx="4700931" cy="400110"/>
            <a:chOff x="389079" y="1953092"/>
            <a:chExt cx="4700931" cy="400110"/>
          </a:xfrm>
        </p:grpSpPr>
        <p:sp>
          <p:nvSpPr>
            <p:cNvPr id="4" name="Rectángulo 3">
              <a:extLst>
                <a:ext uri="{FF2B5EF4-FFF2-40B4-BE49-F238E27FC236}">
                  <a16:creationId xmlns:a16="http://schemas.microsoft.com/office/drawing/2014/main" id="{C2925590-2879-C8C3-44A0-031F08F27587}"/>
                </a:ext>
              </a:extLst>
            </p:cNvPr>
            <p:cNvSpPr/>
            <p:nvPr/>
          </p:nvSpPr>
          <p:spPr>
            <a:xfrm>
              <a:off x="389079" y="1953092"/>
              <a:ext cx="4322595" cy="40011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s-ES" sz="2000" dirty="0">
                  <a:ln w="0"/>
                  <a:solidFill>
                    <a:srgbClr val="FF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R2 Rules – Regla para entrar a las CAT</a:t>
              </a:r>
            </a:p>
          </p:txBody>
        </p:sp>
        <p:sp>
          <p:nvSpPr>
            <p:cNvPr id="17" name="Rectángulo 16">
              <a:extLst>
                <a:ext uri="{FF2B5EF4-FFF2-40B4-BE49-F238E27FC236}">
                  <a16:creationId xmlns:a16="http://schemas.microsoft.com/office/drawing/2014/main" id="{481A2906-129C-9373-5FA0-97F42BB58403}"/>
                </a:ext>
              </a:extLst>
            </p:cNvPr>
            <p:cNvSpPr/>
            <p:nvPr/>
          </p:nvSpPr>
          <p:spPr>
            <a:xfrm>
              <a:off x="4769089" y="1953092"/>
              <a:ext cx="320921" cy="40011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s-ES" sz="2000" dirty="0">
                  <a:ln w="0"/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2</a:t>
              </a:r>
            </a:p>
          </p:txBody>
        </p: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81B93841-2C0A-D8F3-9CE5-A87EECDC1B24}"/>
              </a:ext>
            </a:extLst>
          </p:cNvPr>
          <p:cNvGrpSpPr/>
          <p:nvPr/>
        </p:nvGrpSpPr>
        <p:grpSpPr>
          <a:xfrm>
            <a:off x="424982" y="2926078"/>
            <a:ext cx="7084436" cy="400110"/>
            <a:chOff x="435679" y="3228945"/>
            <a:chExt cx="7084436" cy="400110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646D8751-0ABC-81C5-1FDA-2D384E9AB51D}"/>
                </a:ext>
              </a:extLst>
            </p:cNvPr>
            <p:cNvSpPr/>
            <p:nvPr/>
          </p:nvSpPr>
          <p:spPr>
            <a:xfrm>
              <a:off x="435679" y="3228945"/>
              <a:ext cx="4919424" cy="40011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s-ES" sz="2000" dirty="0">
                  <a:ln w="0"/>
                  <a:solidFill>
                    <a:srgbClr val="FF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R3 </a:t>
              </a:r>
              <a:r>
                <a:rPr lang="es-ES" sz="2000" dirty="0" err="1">
                  <a:ln w="0"/>
                  <a:solidFill>
                    <a:srgbClr val="FF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Categorias</a:t>
              </a:r>
              <a:r>
                <a:rPr lang="es-ES" sz="2000" dirty="0">
                  <a:ln w="0"/>
                  <a:solidFill>
                    <a:srgbClr val="FF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-&gt; Layout por cada </a:t>
              </a:r>
              <a:r>
                <a:rPr lang="es-ES" sz="2000" dirty="0" err="1">
                  <a:ln w="0"/>
                  <a:solidFill>
                    <a:srgbClr val="FF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categoria</a:t>
              </a:r>
              <a:endParaRPr lang="es-ES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F749A068-FF1B-6111-F420-90651BECE329}"/>
                </a:ext>
              </a:extLst>
            </p:cNvPr>
            <p:cNvSpPr/>
            <p:nvPr/>
          </p:nvSpPr>
          <p:spPr>
            <a:xfrm>
              <a:off x="5447112" y="3228945"/>
              <a:ext cx="2073003" cy="40011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s-ES" sz="2000" dirty="0">
                  <a:ln w="0"/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32001… 32002…</a:t>
              </a:r>
            </a:p>
          </p:txBody>
        </p:sp>
      </p:grpSp>
      <p:grpSp>
        <p:nvGrpSpPr>
          <p:cNvPr id="10" name="Grupo 9">
            <a:extLst>
              <a:ext uri="{FF2B5EF4-FFF2-40B4-BE49-F238E27FC236}">
                <a16:creationId xmlns:a16="http://schemas.microsoft.com/office/drawing/2014/main" id="{67B9A60F-497D-79C3-7864-02A2E0CF15B0}"/>
              </a:ext>
            </a:extLst>
          </p:cNvPr>
          <p:cNvGrpSpPr/>
          <p:nvPr/>
        </p:nvGrpSpPr>
        <p:grpSpPr>
          <a:xfrm>
            <a:off x="406433" y="3371089"/>
            <a:ext cx="8168935" cy="400110"/>
            <a:chOff x="435679" y="4980432"/>
            <a:chExt cx="8168935" cy="400110"/>
          </a:xfrm>
        </p:grpSpPr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640E7C58-2180-237A-C957-E7B9DECC4551}"/>
                </a:ext>
              </a:extLst>
            </p:cNvPr>
            <p:cNvSpPr/>
            <p:nvPr/>
          </p:nvSpPr>
          <p:spPr>
            <a:xfrm>
              <a:off x="435679" y="4980432"/>
              <a:ext cx="6225679" cy="40011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s-ES" sz="2000" dirty="0">
                  <a:ln w="0"/>
                  <a:solidFill>
                    <a:srgbClr val="FF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R3 S900 -&gt; Tablas Auxiliares que usan todos los </a:t>
              </a:r>
              <a:r>
                <a:rPr lang="es-ES" sz="2000" dirty="0" err="1">
                  <a:ln w="0"/>
                  <a:solidFill>
                    <a:srgbClr val="FF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record</a:t>
              </a:r>
              <a:r>
                <a:rPr lang="es-ES" sz="2000" dirty="0">
                  <a:ln w="0"/>
                  <a:solidFill>
                    <a:srgbClr val="FF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</a:p>
          </p:txBody>
        </p:sp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4F9C76C6-A437-BEF0-C2A3-4B24178EBA61}"/>
                </a:ext>
              </a:extLst>
            </p:cNvPr>
            <p:cNvSpPr/>
            <p:nvPr/>
          </p:nvSpPr>
          <p:spPr>
            <a:xfrm>
              <a:off x="6573288" y="4980432"/>
              <a:ext cx="2031326" cy="40011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s-ES" sz="2000" dirty="0">
                  <a:ln w="0"/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32901… 32902…</a:t>
              </a:r>
            </a:p>
          </p:txBody>
        </p:sp>
      </p:grpSp>
      <p:sp>
        <p:nvSpPr>
          <p:cNvPr id="23" name="Rectángulo 22">
            <a:extLst>
              <a:ext uri="{FF2B5EF4-FFF2-40B4-BE49-F238E27FC236}">
                <a16:creationId xmlns:a16="http://schemas.microsoft.com/office/drawing/2014/main" id="{53B8E787-493F-C16D-EA5A-E0DF0A26D229}"/>
              </a:ext>
            </a:extLst>
          </p:cNvPr>
          <p:cNvSpPr/>
          <p:nvPr/>
        </p:nvSpPr>
        <p:spPr>
          <a:xfrm>
            <a:off x="9121789" y="2208839"/>
            <a:ext cx="2810320" cy="95410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14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Archivos donde viene información</a:t>
            </a:r>
          </a:p>
          <a:p>
            <a:pPr algn="ctr"/>
            <a:endParaRPr lang="es-ES" sz="14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s-ES" sz="1400" dirty="0">
                <a:ln w="0"/>
                <a:solidFill>
                  <a:schemeClr val="accent5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 Rule -&gt; Internacional</a:t>
            </a:r>
          </a:p>
          <a:p>
            <a:pPr algn="ctr"/>
            <a:r>
              <a:rPr lang="es-ES" sz="1400" dirty="0" err="1">
                <a:ln w="0"/>
                <a:solidFill>
                  <a:schemeClr val="accent5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All</a:t>
            </a:r>
            <a:r>
              <a:rPr lang="es-ES" sz="1400" dirty="0">
                <a:ln w="0"/>
                <a:solidFill>
                  <a:schemeClr val="accent5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Rule -&gt; Mexico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7B88465D-FB7B-AF8C-E9EC-C633215C92CA}"/>
              </a:ext>
            </a:extLst>
          </p:cNvPr>
          <p:cNvSpPr/>
          <p:nvPr/>
        </p:nvSpPr>
        <p:spPr>
          <a:xfrm>
            <a:off x="406433" y="4205700"/>
            <a:ext cx="2288191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2000" dirty="0">
                <a:ln w="0"/>
                <a:solidFill>
                  <a:schemeClr val="accent3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Ejemplo de archivo</a:t>
            </a:r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F78DB4E3-7CE6-F381-5524-60432A2448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630" y="4743173"/>
            <a:ext cx="11255873" cy="1769216"/>
          </a:xfrm>
          <a:prstGeom prst="rect">
            <a:avLst/>
          </a:prstGeom>
        </p:spPr>
      </p:pic>
      <p:sp>
        <p:nvSpPr>
          <p:cNvPr id="27" name="Rectángulo 26">
            <a:extLst>
              <a:ext uri="{FF2B5EF4-FFF2-40B4-BE49-F238E27FC236}">
                <a16:creationId xmlns:a16="http://schemas.microsoft.com/office/drawing/2014/main" id="{58D72FA5-E7F5-FF0C-E07E-CA749F03E8BA}"/>
              </a:ext>
            </a:extLst>
          </p:cNvPr>
          <p:cNvSpPr/>
          <p:nvPr/>
        </p:nvSpPr>
        <p:spPr>
          <a:xfrm>
            <a:off x="479926" y="4944357"/>
            <a:ext cx="418704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16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R1</a:t>
            </a:r>
            <a:endParaRPr lang="es-ES" sz="1600" dirty="0">
              <a:ln w="0"/>
              <a:solidFill>
                <a:schemeClr val="accent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0E18CAAE-143B-E376-97D2-105823A19CEA}"/>
              </a:ext>
            </a:extLst>
          </p:cNvPr>
          <p:cNvSpPr/>
          <p:nvPr/>
        </p:nvSpPr>
        <p:spPr>
          <a:xfrm>
            <a:off x="479926" y="5282897"/>
            <a:ext cx="418704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1600" dirty="0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R2</a:t>
            </a:r>
            <a:endParaRPr lang="es-ES" sz="1600" dirty="0">
              <a:ln w="0"/>
              <a:solidFill>
                <a:schemeClr val="accent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BA939A7B-F57C-4922-F5F3-4C2911CC45A5}"/>
              </a:ext>
            </a:extLst>
          </p:cNvPr>
          <p:cNvSpPr/>
          <p:nvPr/>
        </p:nvSpPr>
        <p:spPr>
          <a:xfrm>
            <a:off x="483237" y="5621437"/>
            <a:ext cx="418704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160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R3</a:t>
            </a:r>
            <a:endParaRPr lang="es-ES" sz="1600" dirty="0">
              <a:ln w="0"/>
              <a:solidFill>
                <a:schemeClr val="accent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FFEB54EC-5A29-0D39-E37C-B4A7A7BF2FE8}"/>
              </a:ext>
            </a:extLst>
          </p:cNvPr>
          <p:cNvSpPr/>
          <p:nvPr/>
        </p:nvSpPr>
        <p:spPr>
          <a:xfrm>
            <a:off x="37497" y="5959998"/>
            <a:ext cx="861133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160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R3S900</a:t>
            </a:r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1FEB1129-89D2-9815-AA56-7C0ADD293255}"/>
              </a:ext>
            </a:extLst>
          </p:cNvPr>
          <p:cNvSpPr/>
          <p:nvPr/>
        </p:nvSpPr>
        <p:spPr>
          <a:xfrm>
            <a:off x="3254526" y="4216210"/>
            <a:ext cx="3021276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2000" dirty="0">
                <a:ln w="0"/>
                <a:solidFill>
                  <a:schemeClr val="accent5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Archivo : </a:t>
            </a:r>
            <a:r>
              <a:rPr lang="es-ES" sz="2000" dirty="0" err="1">
                <a:ln w="0"/>
                <a:solidFill>
                  <a:schemeClr val="accent5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All</a:t>
            </a:r>
            <a:r>
              <a:rPr lang="es-ES" sz="2000" dirty="0">
                <a:ln w="0"/>
                <a:solidFill>
                  <a:schemeClr val="accent5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Rule  , In Rule</a:t>
            </a:r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4890D4D0-B6C1-D662-A04A-2394E73611E3}"/>
              </a:ext>
            </a:extLst>
          </p:cNvPr>
          <p:cNvSpPr/>
          <p:nvPr/>
        </p:nvSpPr>
        <p:spPr>
          <a:xfrm>
            <a:off x="479926" y="355118"/>
            <a:ext cx="5840701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200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Interpretación de insumos ATPCO PXFARES - Rules </a:t>
            </a:r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89EF91A4-8CB2-76AD-0D4C-B6137CCAA768}"/>
              </a:ext>
            </a:extLst>
          </p:cNvPr>
          <p:cNvSpPr/>
          <p:nvPr/>
        </p:nvSpPr>
        <p:spPr>
          <a:xfrm>
            <a:off x="424982" y="1027620"/>
            <a:ext cx="8345640" cy="10772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E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R0 Regla general-&gt; cuando una categoría no existe- &gt; un campo(general alterna ALTGEN) de 7 caracteres contiene MERCADO= 364 (3 caracteres)  y regla= MIDO (4 caracteres)  y hace nueva búsqueda -&gt; (se va por defecto R2 -&gt;MERCADO= 364 (3 caracteres)  y regla= MIDO (4 caracteres)  y categoría puesta previamente) </a:t>
            </a:r>
          </a:p>
        </p:txBody>
      </p:sp>
    </p:spTree>
    <p:extLst>
      <p:ext uri="{BB962C8B-B14F-4D97-AF65-F5344CB8AC3E}">
        <p14:creationId xmlns:p14="http://schemas.microsoft.com/office/powerpoint/2010/main" val="36371104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E3E6D-9BD6-FC7A-B444-98837FECA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6B20375D-D97D-FB2C-0054-719E6EC98D6F}"/>
              </a:ext>
            </a:extLst>
          </p:cNvPr>
          <p:cNvGrpSpPr/>
          <p:nvPr/>
        </p:nvGrpSpPr>
        <p:grpSpPr>
          <a:xfrm>
            <a:off x="348432" y="2118999"/>
            <a:ext cx="4666337" cy="400110"/>
            <a:chOff x="423673" y="1953092"/>
            <a:chExt cx="4666337" cy="400110"/>
          </a:xfrm>
        </p:grpSpPr>
        <p:sp>
          <p:nvSpPr>
            <p:cNvPr id="3" name="Rectángulo 2">
              <a:extLst>
                <a:ext uri="{FF2B5EF4-FFF2-40B4-BE49-F238E27FC236}">
                  <a16:creationId xmlns:a16="http://schemas.microsoft.com/office/drawing/2014/main" id="{3045FAA0-70D0-73D6-E5BE-E97C78320184}"/>
                </a:ext>
              </a:extLst>
            </p:cNvPr>
            <p:cNvSpPr/>
            <p:nvPr/>
          </p:nvSpPr>
          <p:spPr>
            <a:xfrm>
              <a:off x="423673" y="1953092"/>
              <a:ext cx="4253407" cy="40011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s-ES" sz="2000" dirty="0">
                  <a:ln w="0"/>
                  <a:solidFill>
                    <a:srgbClr val="FF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R2 Rules – Rega para entrar a las CAT</a:t>
              </a:r>
            </a:p>
          </p:txBody>
        </p:sp>
        <p:sp>
          <p:nvSpPr>
            <p:cNvPr id="4" name="Rectángulo 3">
              <a:extLst>
                <a:ext uri="{FF2B5EF4-FFF2-40B4-BE49-F238E27FC236}">
                  <a16:creationId xmlns:a16="http://schemas.microsoft.com/office/drawing/2014/main" id="{8C778960-E000-42DA-B214-D0C5B754C1A8}"/>
                </a:ext>
              </a:extLst>
            </p:cNvPr>
            <p:cNvSpPr/>
            <p:nvPr/>
          </p:nvSpPr>
          <p:spPr>
            <a:xfrm>
              <a:off x="4769089" y="1953092"/>
              <a:ext cx="320921" cy="40011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s-ES" sz="2000" dirty="0">
                  <a:ln w="0"/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2</a:t>
              </a:r>
            </a:p>
          </p:txBody>
        </p:sp>
      </p:grpSp>
      <p:grpSp>
        <p:nvGrpSpPr>
          <p:cNvPr id="5" name="Grupo 4">
            <a:extLst>
              <a:ext uri="{FF2B5EF4-FFF2-40B4-BE49-F238E27FC236}">
                <a16:creationId xmlns:a16="http://schemas.microsoft.com/office/drawing/2014/main" id="{5DA9C8FD-66C6-5B2D-4DE3-E159D6F2A448}"/>
              </a:ext>
            </a:extLst>
          </p:cNvPr>
          <p:cNvGrpSpPr/>
          <p:nvPr/>
        </p:nvGrpSpPr>
        <p:grpSpPr>
          <a:xfrm>
            <a:off x="348432" y="2766123"/>
            <a:ext cx="7084436" cy="400110"/>
            <a:chOff x="435679" y="3228945"/>
            <a:chExt cx="7084436" cy="400110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481F9266-BC52-1375-68A4-2F75D1DAC710}"/>
                </a:ext>
              </a:extLst>
            </p:cNvPr>
            <p:cNvSpPr/>
            <p:nvPr/>
          </p:nvSpPr>
          <p:spPr>
            <a:xfrm>
              <a:off x="435679" y="3228945"/>
              <a:ext cx="4919424" cy="40011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s-ES" sz="2000" dirty="0">
                  <a:ln w="0"/>
                  <a:solidFill>
                    <a:srgbClr val="FF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R3 </a:t>
              </a:r>
              <a:r>
                <a:rPr lang="es-ES" sz="2000" dirty="0" err="1">
                  <a:ln w="0"/>
                  <a:solidFill>
                    <a:srgbClr val="FF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Categorias</a:t>
              </a:r>
              <a:r>
                <a:rPr lang="es-ES" sz="2000" dirty="0">
                  <a:ln w="0"/>
                  <a:solidFill>
                    <a:srgbClr val="FF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-&gt; Layout por cada </a:t>
              </a:r>
              <a:r>
                <a:rPr lang="es-ES" sz="2000" dirty="0" err="1">
                  <a:ln w="0"/>
                  <a:solidFill>
                    <a:srgbClr val="FF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categoria</a:t>
              </a:r>
              <a:endParaRPr lang="es-ES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6758EC5E-9A3D-90A7-F59A-1CF76B6FF63D}"/>
                </a:ext>
              </a:extLst>
            </p:cNvPr>
            <p:cNvSpPr/>
            <p:nvPr/>
          </p:nvSpPr>
          <p:spPr>
            <a:xfrm>
              <a:off x="5447112" y="3228945"/>
              <a:ext cx="2073003" cy="40011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s-ES" sz="2000" dirty="0">
                  <a:ln w="0"/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32001… 32002…</a:t>
              </a:r>
            </a:p>
          </p:txBody>
        </p:sp>
      </p:grpSp>
      <p:grpSp>
        <p:nvGrpSpPr>
          <p:cNvPr id="8" name="Grupo 7">
            <a:extLst>
              <a:ext uri="{FF2B5EF4-FFF2-40B4-BE49-F238E27FC236}">
                <a16:creationId xmlns:a16="http://schemas.microsoft.com/office/drawing/2014/main" id="{9FF2DA1B-8E9E-A9D8-E598-582573593119}"/>
              </a:ext>
            </a:extLst>
          </p:cNvPr>
          <p:cNvGrpSpPr/>
          <p:nvPr/>
        </p:nvGrpSpPr>
        <p:grpSpPr>
          <a:xfrm>
            <a:off x="339326" y="3413247"/>
            <a:ext cx="8168935" cy="400110"/>
            <a:chOff x="435679" y="4980432"/>
            <a:chExt cx="8168935" cy="400110"/>
          </a:xfrm>
        </p:grpSpPr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FA30634A-09D4-0F88-CB60-298ACF15DA46}"/>
                </a:ext>
              </a:extLst>
            </p:cNvPr>
            <p:cNvSpPr/>
            <p:nvPr/>
          </p:nvSpPr>
          <p:spPr>
            <a:xfrm>
              <a:off x="435679" y="4980432"/>
              <a:ext cx="6225679" cy="40011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r"/>
              <a:r>
                <a:rPr lang="es-ES" sz="2000" dirty="0">
                  <a:ln w="0"/>
                  <a:solidFill>
                    <a:srgbClr val="FF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R3 S900 -&gt; Tablas Auxiliares que usan todos los </a:t>
              </a:r>
              <a:r>
                <a:rPr lang="es-ES" sz="2000" dirty="0" err="1">
                  <a:ln w="0"/>
                  <a:solidFill>
                    <a:srgbClr val="FF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record</a:t>
              </a:r>
              <a:r>
                <a:rPr lang="es-ES" sz="2000" dirty="0">
                  <a:ln w="0"/>
                  <a:solidFill>
                    <a:srgbClr val="FF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</a:p>
          </p:txBody>
        </p:sp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74F1CD38-B752-0A64-8EDF-C7BDFB56871F}"/>
                </a:ext>
              </a:extLst>
            </p:cNvPr>
            <p:cNvSpPr/>
            <p:nvPr/>
          </p:nvSpPr>
          <p:spPr>
            <a:xfrm>
              <a:off x="6573288" y="4980432"/>
              <a:ext cx="2031326" cy="40011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r"/>
              <a:r>
                <a:rPr lang="es-ES" sz="2000" dirty="0">
                  <a:ln w="0"/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32901… 32902…</a:t>
              </a:r>
            </a:p>
          </p:txBody>
        </p:sp>
      </p:grpSp>
      <p:sp>
        <p:nvSpPr>
          <p:cNvPr id="15" name="Cerrar llave 14">
            <a:extLst>
              <a:ext uri="{FF2B5EF4-FFF2-40B4-BE49-F238E27FC236}">
                <a16:creationId xmlns:a16="http://schemas.microsoft.com/office/drawing/2014/main" id="{23B0F9E8-AF05-4CC0-2202-5B8733D95545}"/>
              </a:ext>
            </a:extLst>
          </p:cNvPr>
          <p:cNvSpPr/>
          <p:nvPr/>
        </p:nvSpPr>
        <p:spPr>
          <a:xfrm>
            <a:off x="8439960" y="1647033"/>
            <a:ext cx="480463" cy="2522631"/>
          </a:xfrm>
          <a:prstGeom prst="rightBrace">
            <a:avLst>
              <a:gd name="adj1" fmla="val 8333"/>
              <a:gd name="adj2" fmla="val 48654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E942037F-56EC-C277-E1A2-B11AB4AA1EA4}"/>
              </a:ext>
            </a:extLst>
          </p:cNvPr>
          <p:cNvSpPr/>
          <p:nvPr/>
        </p:nvSpPr>
        <p:spPr>
          <a:xfrm>
            <a:off x="9108510" y="2639220"/>
            <a:ext cx="1988173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FTNT (</a:t>
            </a:r>
            <a:r>
              <a:rPr lang="es-ES" sz="2000" dirty="0" err="1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FootNote</a:t>
            </a:r>
            <a:r>
              <a:rPr lang="es-ES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C7D97540-0E2B-5D88-F625-60FA447A062C}"/>
              </a:ext>
            </a:extLst>
          </p:cNvPr>
          <p:cNvSpPr/>
          <p:nvPr/>
        </p:nvSpPr>
        <p:spPr>
          <a:xfrm>
            <a:off x="8978056" y="3039330"/>
            <a:ext cx="2810320" cy="95410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14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Archivos donde viene información</a:t>
            </a:r>
          </a:p>
          <a:p>
            <a:pPr algn="ctr"/>
            <a:endParaRPr lang="es-ES" sz="14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s-ES" sz="1400" dirty="0">
                <a:ln w="0"/>
                <a:solidFill>
                  <a:schemeClr val="accent5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 </a:t>
            </a:r>
            <a:r>
              <a:rPr lang="es-ES" sz="1400" dirty="0" err="1">
                <a:ln w="0"/>
                <a:solidFill>
                  <a:schemeClr val="accent5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FootNote</a:t>
            </a:r>
            <a:r>
              <a:rPr lang="es-ES" sz="1400" dirty="0">
                <a:ln w="0"/>
                <a:solidFill>
                  <a:schemeClr val="accent5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-&gt; Internacional</a:t>
            </a:r>
          </a:p>
          <a:p>
            <a:pPr algn="ctr"/>
            <a:r>
              <a:rPr lang="es-ES" sz="1400" dirty="0" err="1">
                <a:ln w="0"/>
                <a:solidFill>
                  <a:schemeClr val="accent5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All</a:t>
            </a:r>
            <a:r>
              <a:rPr lang="es-ES" sz="1400" dirty="0">
                <a:ln w="0"/>
                <a:solidFill>
                  <a:schemeClr val="accent5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s-ES" sz="1400" dirty="0" err="1">
                <a:ln w="0"/>
                <a:solidFill>
                  <a:schemeClr val="accent5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FootNote</a:t>
            </a:r>
            <a:r>
              <a:rPr lang="es-ES" sz="1400" dirty="0">
                <a:ln w="0"/>
                <a:solidFill>
                  <a:schemeClr val="accent5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-&gt; Mexico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BB51F83D-5992-B8BE-25B4-98474A31F4E6}"/>
              </a:ext>
            </a:extLst>
          </p:cNvPr>
          <p:cNvSpPr/>
          <p:nvPr/>
        </p:nvSpPr>
        <p:spPr>
          <a:xfrm>
            <a:off x="462245" y="540098"/>
            <a:ext cx="6263894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200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Interpretación de insumos ATPCO PXFARES  - </a:t>
            </a:r>
            <a:r>
              <a:rPr lang="es-ES" sz="2000" dirty="0" err="1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Footnote</a:t>
            </a:r>
            <a:r>
              <a:rPr lang="es-ES" sz="200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099F37E1-B2E0-24FB-A5CB-4A3E39565C0C}"/>
              </a:ext>
            </a:extLst>
          </p:cNvPr>
          <p:cNvSpPr/>
          <p:nvPr/>
        </p:nvSpPr>
        <p:spPr>
          <a:xfrm>
            <a:off x="406433" y="4205700"/>
            <a:ext cx="2288191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es-ES" sz="2000" dirty="0">
                <a:ln w="0"/>
                <a:solidFill>
                  <a:schemeClr val="accent3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Ejemplo de archivo</a:t>
            </a:r>
          </a:p>
        </p:txBody>
      </p:sp>
      <p:pic>
        <p:nvPicPr>
          <p:cNvPr id="37" name="Imagen 36">
            <a:extLst>
              <a:ext uri="{FF2B5EF4-FFF2-40B4-BE49-F238E27FC236}">
                <a16:creationId xmlns:a16="http://schemas.microsoft.com/office/drawing/2014/main" id="{0C5406CE-48B2-E69C-18CC-5955D9D94E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6440"/>
          <a:stretch>
            <a:fillRect/>
          </a:stretch>
        </p:blipFill>
        <p:spPr>
          <a:xfrm>
            <a:off x="898630" y="5210967"/>
            <a:ext cx="11255873" cy="1301422"/>
          </a:xfrm>
          <a:prstGeom prst="rect">
            <a:avLst/>
          </a:prstGeom>
        </p:spPr>
      </p:pic>
      <p:sp>
        <p:nvSpPr>
          <p:cNvPr id="41" name="Rectángulo 40">
            <a:extLst>
              <a:ext uri="{FF2B5EF4-FFF2-40B4-BE49-F238E27FC236}">
                <a16:creationId xmlns:a16="http://schemas.microsoft.com/office/drawing/2014/main" id="{95976119-590B-A1DC-A27F-9FDE8215A397}"/>
              </a:ext>
            </a:extLst>
          </p:cNvPr>
          <p:cNvSpPr/>
          <p:nvPr/>
        </p:nvSpPr>
        <p:spPr>
          <a:xfrm>
            <a:off x="479926" y="5282897"/>
            <a:ext cx="418704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es-ES" sz="1600" dirty="0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R2</a:t>
            </a:r>
            <a:endParaRPr lang="es-ES" sz="1600" dirty="0">
              <a:ln w="0"/>
              <a:solidFill>
                <a:schemeClr val="accent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4745A11E-2706-3551-3B6F-E910CB5E0673}"/>
              </a:ext>
            </a:extLst>
          </p:cNvPr>
          <p:cNvSpPr/>
          <p:nvPr/>
        </p:nvSpPr>
        <p:spPr>
          <a:xfrm>
            <a:off x="483237" y="5621437"/>
            <a:ext cx="418704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es-ES" sz="160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R3</a:t>
            </a:r>
            <a:endParaRPr lang="es-ES" sz="1600" dirty="0">
              <a:ln w="0"/>
              <a:solidFill>
                <a:schemeClr val="accent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F5C7E486-9652-EB7F-17AB-E81D5CE4BBE8}"/>
              </a:ext>
            </a:extLst>
          </p:cNvPr>
          <p:cNvSpPr/>
          <p:nvPr/>
        </p:nvSpPr>
        <p:spPr>
          <a:xfrm>
            <a:off x="37497" y="5959998"/>
            <a:ext cx="861133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es-ES" sz="160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R3S900</a:t>
            </a:r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9BDE62FC-DC72-0BFF-F90B-8E4E3778ABD6}"/>
              </a:ext>
            </a:extLst>
          </p:cNvPr>
          <p:cNvSpPr/>
          <p:nvPr/>
        </p:nvSpPr>
        <p:spPr>
          <a:xfrm>
            <a:off x="3254526" y="4216210"/>
            <a:ext cx="3021276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2000" dirty="0">
                <a:ln w="0"/>
                <a:solidFill>
                  <a:schemeClr val="accent5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Archivo : </a:t>
            </a:r>
            <a:r>
              <a:rPr lang="es-ES" sz="2000" dirty="0" err="1">
                <a:ln w="0"/>
                <a:solidFill>
                  <a:schemeClr val="accent5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All</a:t>
            </a:r>
            <a:r>
              <a:rPr lang="es-ES" sz="2000" dirty="0">
                <a:ln w="0"/>
                <a:solidFill>
                  <a:schemeClr val="accent5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Rule  , In Rule</a:t>
            </a:r>
          </a:p>
        </p:txBody>
      </p:sp>
    </p:spTree>
    <p:extLst>
      <p:ext uri="{BB962C8B-B14F-4D97-AF65-F5344CB8AC3E}">
        <p14:creationId xmlns:p14="http://schemas.microsoft.com/office/powerpoint/2010/main" val="19051878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E6CBE1-7E8F-BD6F-6F7D-452363436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7EC786F2-EF6D-980D-C8CE-4A86D21BD7FA}"/>
              </a:ext>
            </a:extLst>
          </p:cNvPr>
          <p:cNvSpPr/>
          <p:nvPr/>
        </p:nvSpPr>
        <p:spPr>
          <a:xfrm>
            <a:off x="1708196" y="2118999"/>
            <a:ext cx="1533881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Tarifas FARE</a:t>
            </a:r>
          </a:p>
        </p:txBody>
      </p:sp>
      <p:sp>
        <p:nvSpPr>
          <p:cNvPr id="6" name="Cerrar llave 5">
            <a:extLst>
              <a:ext uri="{FF2B5EF4-FFF2-40B4-BE49-F238E27FC236}">
                <a16:creationId xmlns:a16="http://schemas.microsoft.com/office/drawing/2014/main" id="{0C34A273-ECA1-9FFE-02AC-A9AF86E6B135}"/>
              </a:ext>
            </a:extLst>
          </p:cNvPr>
          <p:cNvSpPr/>
          <p:nvPr/>
        </p:nvSpPr>
        <p:spPr>
          <a:xfrm>
            <a:off x="4511847" y="1084183"/>
            <a:ext cx="480463" cy="2522631"/>
          </a:xfrm>
          <a:prstGeom prst="rightBrace">
            <a:avLst>
              <a:gd name="adj1" fmla="val 8333"/>
              <a:gd name="adj2" fmla="val 48654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0AC7AE3-1E58-9B82-5F25-E37591FE034D}"/>
              </a:ext>
            </a:extLst>
          </p:cNvPr>
          <p:cNvSpPr/>
          <p:nvPr/>
        </p:nvSpPr>
        <p:spPr>
          <a:xfrm>
            <a:off x="5809263" y="1918944"/>
            <a:ext cx="905633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FARES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4D1CD028-A3EF-B8E5-2610-7A4937AF43FF}"/>
              </a:ext>
            </a:extLst>
          </p:cNvPr>
          <p:cNvSpPr/>
          <p:nvPr/>
        </p:nvSpPr>
        <p:spPr>
          <a:xfrm>
            <a:off x="4814826" y="2487042"/>
            <a:ext cx="2894510" cy="95410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14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Archivos donde viene información</a:t>
            </a:r>
          </a:p>
          <a:p>
            <a:pPr algn="ctr"/>
            <a:endParaRPr lang="es-ES" sz="14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s-ES" sz="1400" dirty="0" err="1">
                <a:ln w="0"/>
                <a:solidFill>
                  <a:schemeClr val="accent5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Int</a:t>
            </a:r>
            <a:r>
              <a:rPr lang="es-ES" sz="1400" dirty="0">
                <a:ln w="0"/>
                <a:solidFill>
                  <a:schemeClr val="accent5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Fare  </a:t>
            </a:r>
          </a:p>
          <a:p>
            <a:pPr algn="ctr"/>
            <a:r>
              <a:rPr lang="es-ES" sz="1400" dirty="0">
                <a:ln w="0"/>
                <a:solidFill>
                  <a:schemeClr val="accent5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(viene todo pero solo se carga AM )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51FC2C82-E203-958E-8C97-D30D05B7E776}"/>
              </a:ext>
            </a:extLst>
          </p:cNvPr>
          <p:cNvSpPr/>
          <p:nvPr/>
        </p:nvSpPr>
        <p:spPr>
          <a:xfrm>
            <a:off x="797565" y="617350"/>
            <a:ext cx="6617389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200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Interpretación de insumos ATPCO PXFARES  - Tarifas FARE </a:t>
            </a:r>
          </a:p>
        </p:txBody>
      </p:sp>
    </p:spTree>
    <p:extLst>
      <p:ext uri="{BB962C8B-B14F-4D97-AF65-F5344CB8AC3E}">
        <p14:creationId xmlns:p14="http://schemas.microsoft.com/office/powerpoint/2010/main" val="21363126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A82C9-3825-5506-EFAD-B2AB51343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D25AAE71-82F6-55E5-F47F-EEF68308C928}"/>
              </a:ext>
            </a:extLst>
          </p:cNvPr>
          <p:cNvSpPr/>
          <p:nvPr/>
        </p:nvSpPr>
        <p:spPr>
          <a:xfrm>
            <a:off x="1112787" y="1418647"/>
            <a:ext cx="10490180" cy="440120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28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Total de insumos/archivos 5 (información que se recibe del ATPCO)</a:t>
            </a:r>
          </a:p>
          <a:p>
            <a:pPr algn="ctr"/>
            <a:endParaRPr lang="es-ES" sz="28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s-ES" sz="2800" dirty="0">
                <a:ln w="0"/>
                <a:solidFill>
                  <a:schemeClr val="accent5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 Rule -&gt; Internacional</a:t>
            </a:r>
          </a:p>
          <a:p>
            <a:pPr algn="ctr"/>
            <a:r>
              <a:rPr lang="es-ES" sz="2800" dirty="0" err="1">
                <a:ln w="0"/>
                <a:solidFill>
                  <a:schemeClr val="accent5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All</a:t>
            </a:r>
            <a:r>
              <a:rPr lang="es-ES" sz="2800" dirty="0">
                <a:ln w="0"/>
                <a:solidFill>
                  <a:schemeClr val="accent5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Rule -&gt; Mexico</a:t>
            </a:r>
          </a:p>
          <a:p>
            <a:pPr algn="ctr"/>
            <a:r>
              <a:rPr lang="es-ES" sz="2800" dirty="0">
                <a:ln w="0"/>
                <a:solidFill>
                  <a:schemeClr val="accent5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 </a:t>
            </a:r>
            <a:r>
              <a:rPr lang="es-ES" sz="2800" dirty="0" err="1">
                <a:ln w="0"/>
                <a:solidFill>
                  <a:schemeClr val="accent5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FootNote</a:t>
            </a:r>
            <a:r>
              <a:rPr lang="es-ES" sz="2800" dirty="0">
                <a:ln w="0"/>
                <a:solidFill>
                  <a:schemeClr val="accent5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-&gt; Internacional</a:t>
            </a:r>
          </a:p>
          <a:p>
            <a:pPr algn="ctr"/>
            <a:r>
              <a:rPr lang="es-ES" sz="2800" dirty="0" err="1">
                <a:ln w="0"/>
                <a:solidFill>
                  <a:schemeClr val="accent5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All</a:t>
            </a:r>
            <a:r>
              <a:rPr lang="es-ES" sz="2800" dirty="0">
                <a:ln w="0"/>
                <a:solidFill>
                  <a:schemeClr val="accent5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s-ES" sz="2800" dirty="0" err="1">
                <a:ln w="0"/>
                <a:solidFill>
                  <a:schemeClr val="accent5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FootNote</a:t>
            </a:r>
            <a:r>
              <a:rPr lang="es-ES" sz="2800" dirty="0">
                <a:ln w="0"/>
                <a:solidFill>
                  <a:schemeClr val="accent5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-&gt; Mexico</a:t>
            </a:r>
          </a:p>
          <a:p>
            <a:pPr algn="ctr"/>
            <a:r>
              <a:rPr lang="es-ES" sz="2800" dirty="0" err="1">
                <a:ln w="0"/>
                <a:solidFill>
                  <a:schemeClr val="accent5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Int</a:t>
            </a:r>
            <a:r>
              <a:rPr lang="es-ES" sz="2800" dirty="0">
                <a:ln w="0"/>
                <a:solidFill>
                  <a:schemeClr val="accent5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Fare  </a:t>
            </a:r>
          </a:p>
          <a:p>
            <a:pPr algn="ctr"/>
            <a:endParaRPr lang="es-ES" sz="2800" dirty="0">
              <a:ln w="0"/>
              <a:solidFill>
                <a:schemeClr val="accent5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es-ES" sz="2800" dirty="0">
              <a:ln w="0"/>
              <a:solidFill>
                <a:schemeClr val="accent5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es-ES" sz="2800" dirty="0">
              <a:ln w="0"/>
              <a:solidFill>
                <a:schemeClr val="accent5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3263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C4A7F-51FA-3BF8-6FE7-00974B865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7D634DC9-13DF-DA58-3622-20903D3FBAF8}"/>
              </a:ext>
            </a:extLst>
          </p:cNvPr>
          <p:cNvSpPr/>
          <p:nvPr/>
        </p:nvSpPr>
        <p:spPr>
          <a:xfrm>
            <a:off x="2010845" y="2037820"/>
            <a:ext cx="8170314" cy="193899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6000" dirty="0">
                <a:ln w="0"/>
                <a:solidFill>
                  <a:schemeClr val="accent5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REGLAS R1,R2,R3, S900</a:t>
            </a:r>
          </a:p>
          <a:p>
            <a:pPr algn="ctr"/>
            <a:r>
              <a:rPr lang="es-ES" sz="6000" dirty="0">
                <a:ln w="0"/>
                <a:solidFill>
                  <a:schemeClr val="accent5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VISUALIZACIÓN</a:t>
            </a:r>
          </a:p>
        </p:txBody>
      </p:sp>
    </p:spTree>
    <p:extLst>
      <p:ext uri="{BB962C8B-B14F-4D97-AF65-F5344CB8AC3E}">
        <p14:creationId xmlns:p14="http://schemas.microsoft.com/office/powerpoint/2010/main" val="20884788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865A7-4EAA-04E2-B10A-27BEFA6A4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AB581B72-B2C8-A445-8606-3F6F4E3F6DEE}"/>
              </a:ext>
            </a:extLst>
          </p:cNvPr>
          <p:cNvSpPr/>
          <p:nvPr/>
        </p:nvSpPr>
        <p:spPr>
          <a:xfrm>
            <a:off x="550202" y="547348"/>
            <a:ext cx="8276689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R1</a:t>
            </a:r>
            <a:r>
              <a:rPr lang="es-ES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s-ES" sz="2000" dirty="0" err="1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FareBasis</a:t>
            </a:r>
            <a:r>
              <a:rPr lang="es-ES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-&gt;  Tabla A2390  (información viene en campos específicos) 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163E51C-B815-8256-E2E3-1022FDE7022A}"/>
              </a:ext>
            </a:extLst>
          </p:cNvPr>
          <p:cNvSpPr/>
          <p:nvPr/>
        </p:nvSpPr>
        <p:spPr>
          <a:xfrm>
            <a:off x="550202" y="1209663"/>
            <a:ext cx="11145657" cy="2308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E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Filtros:</a:t>
            </a:r>
          </a:p>
          <a:p>
            <a:pPr lvl="1"/>
            <a:r>
              <a:rPr lang="es-E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Fecha </a:t>
            </a:r>
            <a:r>
              <a:rPr lang="es-E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Effectividad</a:t>
            </a:r>
            <a:r>
              <a:rPr lang="es-E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-&gt;  </a:t>
            </a:r>
            <a:r>
              <a:rPr lang="es-ES" dirty="0">
                <a:ln w="0"/>
                <a:solidFill>
                  <a:schemeClr val="accent4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YYYMMDD  (0250601)   </a:t>
            </a:r>
            <a:r>
              <a:rPr lang="es-E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 </a:t>
            </a:r>
            <a:r>
              <a:rPr lang="es-ES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Obligatorio</a:t>
            </a:r>
          </a:p>
          <a:p>
            <a:pPr lvl="1"/>
            <a:r>
              <a:rPr lang="es-E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Fecha Discontinuidad -&gt; </a:t>
            </a:r>
            <a:r>
              <a:rPr lang="es-ES" dirty="0">
                <a:ln w="0"/>
                <a:solidFill>
                  <a:schemeClr val="accent4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YYYMMDD  (0250601)  </a:t>
            </a:r>
            <a:r>
              <a:rPr lang="es-E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 </a:t>
            </a:r>
            <a:r>
              <a:rPr lang="es-ES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Obligatorio</a:t>
            </a:r>
          </a:p>
          <a:p>
            <a:pPr lvl="1"/>
            <a:r>
              <a:rPr lang="es-E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Operador -&gt; </a:t>
            </a:r>
            <a:r>
              <a:rPr lang="es-ES" dirty="0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=, =&gt;, &lt;=  (efectividad =&gt; discontinuidad  ; efectividad = discontinuidad) (seleccionable)</a:t>
            </a:r>
            <a:endParaRPr lang="es-ES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lvl="1"/>
            <a:r>
              <a:rPr lang="es-E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Fare Basic (</a:t>
            </a:r>
            <a:r>
              <a:rPr lang="es-E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cod</a:t>
            </a:r>
            <a:r>
              <a:rPr lang="es-E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asignado a una tarifa)   -&gt;  </a:t>
            </a:r>
            <a:r>
              <a:rPr lang="es-ES" dirty="0">
                <a:ln w="0"/>
                <a:solidFill>
                  <a:schemeClr val="accent4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********* (10 CARACTERES) texto</a:t>
            </a:r>
          </a:p>
          <a:p>
            <a:pPr lvl="1"/>
            <a:r>
              <a:rPr lang="es-E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Mercado   -&gt; </a:t>
            </a:r>
            <a:r>
              <a:rPr lang="es-ES" dirty="0">
                <a:ln w="0"/>
                <a:solidFill>
                  <a:schemeClr val="accent4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*** (3 CARACTERES) texto</a:t>
            </a:r>
          </a:p>
          <a:p>
            <a:pPr lvl="1"/>
            <a:r>
              <a:rPr lang="es-E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Regla   -&gt; </a:t>
            </a:r>
            <a:r>
              <a:rPr lang="es-ES" dirty="0">
                <a:ln w="0"/>
                <a:solidFill>
                  <a:schemeClr val="accent4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**** (4 CARACTERES) texto</a:t>
            </a:r>
          </a:p>
          <a:p>
            <a:endParaRPr lang="es-ES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2871348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BC498-FE53-1F3C-CD9E-FDF08DC4B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81057618-594B-DECD-8FBC-6ED8486732F2}"/>
              </a:ext>
            </a:extLst>
          </p:cNvPr>
          <p:cNvSpPr/>
          <p:nvPr/>
        </p:nvSpPr>
        <p:spPr>
          <a:xfrm>
            <a:off x="605816" y="522927"/>
            <a:ext cx="7933582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R2</a:t>
            </a:r>
            <a:r>
              <a:rPr lang="es-ES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Reglas   -&gt;  Tabla A2390 (información viene en campos específicos) 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D23E34E-0201-57F6-B440-63AC425C3323}"/>
              </a:ext>
            </a:extLst>
          </p:cNvPr>
          <p:cNvSpPr/>
          <p:nvPr/>
        </p:nvSpPr>
        <p:spPr>
          <a:xfrm>
            <a:off x="790525" y="1003235"/>
            <a:ext cx="11602857" cy="224676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E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Filtros:</a:t>
            </a:r>
          </a:p>
          <a:p>
            <a:pPr lvl="1"/>
            <a:r>
              <a:rPr lang="es-E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Fecha </a:t>
            </a:r>
            <a:r>
              <a:rPr lang="es-ES" sz="1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Effectividad</a:t>
            </a:r>
            <a:r>
              <a:rPr lang="es-E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-&gt;  </a:t>
            </a:r>
            <a:r>
              <a:rPr lang="es-ES" sz="1400" dirty="0">
                <a:ln w="0"/>
                <a:solidFill>
                  <a:schemeClr val="accent4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YYYMMDD  (0250601)   </a:t>
            </a:r>
            <a:r>
              <a:rPr lang="es-E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 </a:t>
            </a:r>
            <a:r>
              <a:rPr lang="es-ES" sz="14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Obligatorio  (uno o el otro)</a:t>
            </a:r>
          </a:p>
          <a:p>
            <a:pPr lvl="1"/>
            <a:r>
              <a:rPr lang="es-E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Fecha Discontinuidad -&gt; </a:t>
            </a:r>
            <a:r>
              <a:rPr lang="es-ES" sz="1400" dirty="0">
                <a:ln w="0"/>
                <a:solidFill>
                  <a:schemeClr val="accent4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YYYMMDD  (0250601)  </a:t>
            </a:r>
            <a:r>
              <a:rPr lang="es-E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 </a:t>
            </a:r>
            <a:r>
              <a:rPr lang="es-ES" sz="14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Obligatorio (uno o el otro) </a:t>
            </a:r>
          </a:p>
          <a:p>
            <a:pPr lvl="1"/>
            <a:r>
              <a:rPr lang="es-E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Operador -&gt; </a:t>
            </a:r>
            <a:r>
              <a:rPr lang="es-ES" sz="1400" dirty="0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=, =&gt;, &lt;=  (efectividad =&gt; discontinuidad  ; efectividad = discontinuidad)(seleccionable)</a:t>
            </a:r>
          </a:p>
          <a:p>
            <a:pPr lvl="1"/>
            <a:r>
              <a:rPr lang="es-E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Fare Basic (</a:t>
            </a:r>
            <a:r>
              <a:rPr lang="es-ES" sz="1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cod</a:t>
            </a:r>
            <a:r>
              <a:rPr lang="es-E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asignado a una tarifa)   -&gt;  </a:t>
            </a:r>
            <a:r>
              <a:rPr lang="es-ES" sz="1400" dirty="0">
                <a:ln w="0"/>
                <a:solidFill>
                  <a:schemeClr val="accent4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********* (10 CARACTERES)</a:t>
            </a:r>
          </a:p>
          <a:p>
            <a:pPr lvl="1"/>
            <a:r>
              <a:rPr lang="es-E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Mercado   -&gt; </a:t>
            </a:r>
            <a:r>
              <a:rPr lang="es-ES" sz="1400" dirty="0">
                <a:ln w="0"/>
                <a:solidFill>
                  <a:schemeClr val="accent4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*** (3 CARACTERES)</a:t>
            </a:r>
          </a:p>
          <a:p>
            <a:pPr lvl="1"/>
            <a:r>
              <a:rPr lang="es-E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Regla   -&gt; </a:t>
            </a:r>
            <a:r>
              <a:rPr lang="es-ES" sz="1400" dirty="0">
                <a:ln w="0"/>
                <a:solidFill>
                  <a:schemeClr val="accent4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**** (4 CARACTERES)</a:t>
            </a:r>
          </a:p>
          <a:p>
            <a:pPr lvl="1"/>
            <a:r>
              <a:rPr lang="es-E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Cat   -&gt; </a:t>
            </a:r>
            <a:r>
              <a:rPr lang="es-ES" sz="1400" dirty="0">
                <a:ln w="0"/>
                <a:solidFill>
                  <a:schemeClr val="accent4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**** (3 CARACTERES, múltiple selección (</a:t>
            </a:r>
            <a:r>
              <a:rPr lang="es-ES" sz="1400" dirty="0" err="1">
                <a:ln w="0"/>
                <a:solidFill>
                  <a:schemeClr val="accent4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all</a:t>
            </a:r>
            <a:r>
              <a:rPr lang="es-ES" sz="1400" dirty="0">
                <a:ln w="0"/>
                <a:solidFill>
                  <a:schemeClr val="accent4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o 001,002))</a:t>
            </a:r>
          </a:p>
          <a:p>
            <a:pPr lvl="1"/>
            <a:endParaRPr lang="es-ES" sz="1400" dirty="0">
              <a:ln w="0"/>
              <a:solidFill>
                <a:schemeClr val="accent4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es-ES" sz="1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70637133-6A36-61A5-F5F3-084329383F73}"/>
              </a:ext>
            </a:extLst>
          </p:cNvPr>
          <p:cNvSpPr/>
          <p:nvPr/>
        </p:nvSpPr>
        <p:spPr>
          <a:xfrm>
            <a:off x="605816" y="2863303"/>
            <a:ext cx="1496885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RESPUESTA</a:t>
            </a:r>
            <a:endParaRPr lang="es-ES" sz="200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2A79DB84-D023-1A99-3847-CBC94A6C19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8183923"/>
              </p:ext>
            </p:extLst>
          </p:nvPr>
        </p:nvGraphicFramePr>
        <p:xfrm>
          <a:off x="605816" y="3263413"/>
          <a:ext cx="10795659" cy="10649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7085">
                  <a:extLst>
                    <a:ext uri="{9D8B030D-6E8A-4147-A177-3AD203B41FA5}">
                      <a16:colId xmlns:a16="http://schemas.microsoft.com/office/drawing/2014/main" val="2533269336"/>
                    </a:ext>
                  </a:extLst>
                </a:gridCol>
                <a:gridCol w="2732651">
                  <a:extLst>
                    <a:ext uri="{9D8B030D-6E8A-4147-A177-3AD203B41FA5}">
                      <a16:colId xmlns:a16="http://schemas.microsoft.com/office/drawing/2014/main" val="2586967719"/>
                    </a:ext>
                  </a:extLst>
                </a:gridCol>
                <a:gridCol w="926975">
                  <a:extLst>
                    <a:ext uri="{9D8B030D-6E8A-4147-A177-3AD203B41FA5}">
                      <a16:colId xmlns:a16="http://schemas.microsoft.com/office/drawing/2014/main" val="3614429627"/>
                    </a:ext>
                  </a:extLst>
                </a:gridCol>
                <a:gridCol w="1542237">
                  <a:extLst>
                    <a:ext uri="{9D8B030D-6E8A-4147-A177-3AD203B41FA5}">
                      <a16:colId xmlns:a16="http://schemas.microsoft.com/office/drawing/2014/main" val="657969928"/>
                    </a:ext>
                  </a:extLst>
                </a:gridCol>
                <a:gridCol w="1542237">
                  <a:extLst>
                    <a:ext uri="{9D8B030D-6E8A-4147-A177-3AD203B41FA5}">
                      <a16:colId xmlns:a16="http://schemas.microsoft.com/office/drawing/2014/main" val="16470712"/>
                    </a:ext>
                  </a:extLst>
                </a:gridCol>
                <a:gridCol w="2308327">
                  <a:extLst>
                    <a:ext uri="{9D8B030D-6E8A-4147-A177-3AD203B41FA5}">
                      <a16:colId xmlns:a16="http://schemas.microsoft.com/office/drawing/2014/main" val="1792577836"/>
                    </a:ext>
                  </a:extLst>
                </a:gridCol>
                <a:gridCol w="776147">
                  <a:extLst>
                    <a:ext uri="{9D8B030D-6E8A-4147-A177-3AD203B41FA5}">
                      <a16:colId xmlns:a16="http://schemas.microsoft.com/office/drawing/2014/main" val="1834687707"/>
                    </a:ext>
                  </a:extLst>
                </a:gridCol>
              </a:tblGrid>
              <a:tr h="365954">
                <a:tc>
                  <a:txBody>
                    <a:bodyPr/>
                    <a:lstStyle/>
                    <a:p>
                      <a:r>
                        <a:rPr lang="es-MX" sz="1050" dirty="0"/>
                        <a:t>CAT</a:t>
                      </a:r>
                      <a:endParaRPr lang="es-PE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050" dirty="0"/>
                        <a:t>FBA(FARE BASIS)</a:t>
                      </a:r>
                      <a:endParaRPr lang="es-PE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050" dirty="0"/>
                        <a:t>LOC1</a:t>
                      </a:r>
                      <a:endParaRPr lang="es-PE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050" dirty="0"/>
                        <a:t>LOC 2</a:t>
                      </a:r>
                      <a:endParaRPr lang="es-PE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050" dirty="0"/>
                        <a:t>SEG (SEGMENTO, TOTAL DE TABLAS) </a:t>
                      </a:r>
                      <a:endParaRPr lang="es-PE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050" dirty="0">
                          <a:solidFill>
                            <a:schemeClr val="accent2"/>
                          </a:solidFill>
                        </a:rPr>
                        <a:t>TBLS</a:t>
                      </a:r>
                      <a:endParaRPr lang="es-PE" sz="105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9900059"/>
                  </a:ext>
                </a:extLst>
              </a:tr>
              <a:tr h="653489">
                <a:tc>
                  <a:txBody>
                    <a:bodyPr/>
                    <a:lstStyle/>
                    <a:p>
                      <a:r>
                        <a:rPr lang="es-MX" sz="1050" dirty="0"/>
                        <a:t>002</a:t>
                      </a:r>
                      <a:endParaRPr lang="es-PE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050" dirty="0"/>
                        <a:t>R</a:t>
                      </a:r>
                      <a:endParaRPr lang="es-PE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050" dirty="0"/>
                        <a:t>2</a:t>
                      </a:r>
                      <a:endParaRPr lang="es-PE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050" dirty="0"/>
                        <a:t>002</a:t>
                      </a:r>
                      <a:r>
                        <a:rPr lang="es-MX" sz="1050" dirty="0">
                          <a:solidFill>
                            <a:schemeClr val="accent2"/>
                          </a:solidFill>
                        </a:rPr>
                        <a:t>12345678</a:t>
                      </a:r>
                      <a:r>
                        <a:rPr lang="es-MX" sz="1050" dirty="0"/>
                        <a:t>/002</a:t>
                      </a:r>
                      <a:r>
                        <a:rPr lang="es-MX" sz="1050" dirty="0">
                          <a:solidFill>
                            <a:schemeClr val="accent2"/>
                          </a:solidFill>
                        </a:rPr>
                        <a:t>12345678</a:t>
                      </a:r>
                      <a:br>
                        <a:rPr lang="es-MX" sz="1050" dirty="0">
                          <a:solidFill>
                            <a:schemeClr val="accent2"/>
                          </a:solidFill>
                        </a:rPr>
                      </a:br>
                      <a:br>
                        <a:rPr lang="es-MX" sz="1050" dirty="0">
                          <a:solidFill>
                            <a:schemeClr val="accent2"/>
                          </a:solidFill>
                        </a:rPr>
                      </a:br>
                      <a:r>
                        <a:rPr lang="es-MX" sz="1050" dirty="0">
                          <a:solidFill>
                            <a:schemeClr val="tx1"/>
                          </a:solidFill>
                        </a:rPr>
                        <a:t>categoría</a:t>
                      </a:r>
                      <a:r>
                        <a:rPr lang="es-MX" sz="1050" dirty="0">
                          <a:solidFill>
                            <a:schemeClr val="accent2"/>
                          </a:solidFill>
                        </a:rPr>
                        <a:t>/</a:t>
                      </a:r>
                      <a:r>
                        <a:rPr lang="es-MX" sz="1050" dirty="0" err="1">
                          <a:solidFill>
                            <a:schemeClr val="accent2"/>
                          </a:solidFill>
                        </a:rPr>
                        <a:t>tbls</a:t>
                      </a:r>
                      <a:endParaRPr lang="es-PE" sz="105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0219402"/>
                  </a:ext>
                </a:extLst>
              </a:tr>
            </a:tbl>
          </a:graphicData>
        </a:graphic>
      </p:graphicFrame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01A145BE-401F-F792-3CDC-7C870A9B6931}"/>
              </a:ext>
            </a:extLst>
          </p:cNvPr>
          <p:cNvCxnSpPr>
            <a:cxnSpLocks/>
          </p:cNvCxnSpPr>
          <p:nvPr/>
        </p:nvCxnSpPr>
        <p:spPr>
          <a:xfrm>
            <a:off x="9052560" y="3901835"/>
            <a:ext cx="1032178" cy="10843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CF8760DE-3E80-E916-3AAE-FCB643393CBC}"/>
              </a:ext>
            </a:extLst>
          </p:cNvPr>
          <p:cNvCxnSpPr/>
          <p:nvPr/>
        </p:nvCxnSpPr>
        <p:spPr>
          <a:xfrm>
            <a:off x="8373716" y="3901835"/>
            <a:ext cx="868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ángulo 12">
            <a:extLst>
              <a:ext uri="{FF2B5EF4-FFF2-40B4-BE49-F238E27FC236}">
                <a16:creationId xmlns:a16="http://schemas.microsoft.com/office/drawing/2014/main" id="{44882305-151F-F6B1-5406-4698D9C87834}"/>
              </a:ext>
            </a:extLst>
          </p:cNvPr>
          <p:cNvSpPr/>
          <p:nvPr/>
        </p:nvSpPr>
        <p:spPr>
          <a:xfrm>
            <a:off x="9735546" y="4376143"/>
            <a:ext cx="875561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Modal</a:t>
            </a:r>
            <a:endParaRPr lang="es-ES" sz="200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47DC1308-5D2F-18CA-539E-FD315556313F}"/>
              </a:ext>
            </a:extLst>
          </p:cNvPr>
          <p:cNvSpPr/>
          <p:nvPr/>
        </p:nvSpPr>
        <p:spPr>
          <a:xfrm>
            <a:off x="7204378" y="4986137"/>
            <a:ext cx="4472099" cy="8412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8F27B7F7-0A09-1ED7-CB6D-910B5370DCB1}"/>
              </a:ext>
            </a:extLst>
          </p:cNvPr>
          <p:cNvSpPr/>
          <p:nvPr/>
        </p:nvSpPr>
        <p:spPr>
          <a:xfrm>
            <a:off x="7314557" y="5215587"/>
            <a:ext cx="425174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1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Mostrara información de categorías</a:t>
            </a:r>
          </a:p>
          <a:p>
            <a:pPr algn="ctr"/>
            <a:r>
              <a:rPr lang="es-ES" sz="1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(lo de la búsqueda de </a:t>
            </a:r>
            <a:r>
              <a:rPr lang="es-ES" sz="1200" dirty="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Categorias</a:t>
            </a:r>
            <a:r>
              <a:rPr lang="es-ES" sz="1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A2245 (Se puede reutilizar))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F048623D-569C-1EAB-D4DA-B11383020F71}"/>
              </a:ext>
            </a:extLst>
          </p:cNvPr>
          <p:cNvSpPr/>
          <p:nvPr/>
        </p:nvSpPr>
        <p:spPr>
          <a:xfrm>
            <a:off x="1871058" y="5954585"/>
            <a:ext cx="4472099" cy="8412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88C37719-34EB-DFC8-F4EB-A6F835A752F8}"/>
              </a:ext>
            </a:extLst>
          </p:cNvPr>
          <p:cNvSpPr/>
          <p:nvPr/>
        </p:nvSpPr>
        <p:spPr>
          <a:xfrm>
            <a:off x="2606215" y="6144376"/>
            <a:ext cx="3001783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1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Puede tener apéndices(mas información) ,</a:t>
            </a:r>
          </a:p>
          <a:p>
            <a:pPr algn="ctr"/>
            <a:r>
              <a:rPr lang="es-ES" sz="1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si el campo tabla viene diferente a 8 ceros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F3068CC9-92D1-AA65-6C0C-39E9CF646716}"/>
              </a:ext>
            </a:extLst>
          </p:cNvPr>
          <p:cNvSpPr/>
          <p:nvPr/>
        </p:nvSpPr>
        <p:spPr>
          <a:xfrm>
            <a:off x="4549842" y="5246364"/>
            <a:ext cx="875561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Modal</a:t>
            </a:r>
            <a:endParaRPr lang="es-ES" sz="200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197810F5-707D-38D6-A1F5-F8B8D74F041B}"/>
              </a:ext>
            </a:extLst>
          </p:cNvPr>
          <p:cNvCxnSpPr>
            <a:cxnSpLocks/>
            <a:stCxn id="15" idx="1"/>
          </p:cNvCxnSpPr>
          <p:nvPr/>
        </p:nvCxnSpPr>
        <p:spPr>
          <a:xfrm flipH="1">
            <a:off x="4882896" y="5406761"/>
            <a:ext cx="2321482" cy="4602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22618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B5B1A-10DF-8A99-AED1-7FE173921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EA852AF1-1971-9E56-2418-5BD9320A3145}"/>
              </a:ext>
            </a:extLst>
          </p:cNvPr>
          <p:cNvSpPr/>
          <p:nvPr/>
        </p:nvSpPr>
        <p:spPr>
          <a:xfrm>
            <a:off x="909310" y="525042"/>
            <a:ext cx="7696018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R3</a:t>
            </a:r>
            <a:r>
              <a:rPr lang="es-ES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s-ES" sz="2000" dirty="0" err="1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Categoria</a:t>
            </a:r>
            <a:r>
              <a:rPr lang="es-ES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-&gt;  Tabla A2245 (información viene en solo una trama) 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A22AEF6-DF3A-EFA5-344F-C2A6FBA3660B}"/>
              </a:ext>
            </a:extLst>
          </p:cNvPr>
          <p:cNvSpPr/>
          <p:nvPr/>
        </p:nvSpPr>
        <p:spPr>
          <a:xfrm>
            <a:off x="624103" y="1145655"/>
            <a:ext cx="8362619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E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Filtros:</a:t>
            </a:r>
          </a:p>
          <a:p>
            <a:pPr lvl="1"/>
            <a:r>
              <a:rPr lang="es-E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Cat   -&gt; </a:t>
            </a:r>
            <a:r>
              <a:rPr lang="es-ES" dirty="0">
                <a:ln w="0"/>
                <a:solidFill>
                  <a:schemeClr val="accent4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**** (3 CARACTERES seleccionable solo 1) </a:t>
            </a:r>
            <a:r>
              <a:rPr lang="es-ES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 Obligatorio</a:t>
            </a:r>
          </a:p>
          <a:p>
            <a:pPr lvl="1"/>
            <a:r>
              <a:rPr lang="es-ES" dirty="0">
                <a:ln w="0"/>
                <a:solidFill>
                  <a:schemeClr val="accent4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TBL -&gt; **** (8 CARACTERES , solo 1) </a:t>
            </a:r>
            <a:r>
              <a:rPr lang="es-ES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 Obligatorio</a:t>
            </a:r>
          </a:p>
          <a:p>
            <a:pPr lvl="1"/>
            <a:endParaRPr lang="es-ES" dirty="0">
              <a:ln w="0"/>
              <a:solidFill>
                <a:schemeClr val="accent4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lvl="1"/>
            <a:endParaRPr lang="es-ES" dirty="0">
              <a:ln w="0"/>
              <a:solidFill>
                <a:schemeClr val="accent4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es-ES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1752A4A-63D4-1A56-7BAF-8B834D019B94}"/>
              </a:ext>
            </a:extLst>
          </p:cNvPr>
          <p:cNvSpPr/>
          <p:nvPr/>
        </p:nvSpPr>
        <p:spPr>
          <a:xfrm>
            <a:off x="624103" y="2480252"/>
            <a:ext cx="1496885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RESPUESTA</a:t>
            </a:r>
            <a:endParaRPr lang="es-ES" sz="200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372A8210-B981-D504-720A-2F8CF090FB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9620141"/>
              </p:ext>
            </p:extLst>
          </p:nvPr>
        </p:nvGraphicFramePr>
        <p:xfrm>
          <a:off x="624103" y="3016525"/>
          <a:ext cx="10795659" cy="10649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7085">
                  <a:extLst>
                    <a:ext uri="{9D8B030D-6E8A-4147-A177-3AD203B41FA5}">
                      <a16:colId xmlns:a16="http://schemas.microsoft.com/office/drawing/2014/main" val="2533269336"/>
                    </a:ext>
                  </a:extLst>
                </a:gridCol>
                <a:gridCol w="2732651">
                  <a:extLst>
                    <a:ext uri="{9D8B030D-6E8A-4147-A177-3AD203B41FA5}">
                      <a16:colId xmlns:a16="http://schemas.microsoft.com/office/drawing/2014/main" val="2586967719"/>
                    </a:ext>
                  </a:extLst>
                </a:gridCol>
                <a:gridCol w="926975">
                  <a:extLst>
                    <a:ext uri="{9D8B030D-6E8A-4147-A177-3AD203B41FA5}">
                      <a16:colId xmlns:a16="http://schemas.microsoft.com/office/drawing/2014/main" val="3614429627"/>
                    </a:ext>
                  </a:extLst>
                </a:gridCol>
                <a:gridCol w="1542237">
                  <a:extLst>
                    <a:ext uri="{9D8B030D-6E8A-4147-A177-3AD203B41FA5}">
                      <a16:colId xmlns:a16="http://schemas.microsoft.com/office/drawing/2014/main" val="657969928"/>
                    </a:ext>
                  </a:extLst>
                </a:gridCol>
                <a:gridCol w="1542237">
                  <a:extLst>
                    <a:ext uri="{9D8B030D-6E8A-4147-A177-3AD203B41FA5}">
                      <a16:colId xmlns:a16="http://schemas.microsoft.com/office/drawing/2014/main" val="16470712"/>
                    </a:ext>
                  </a:extLst>
                </a:gridCol>
                <a:gridCol w="2308327">
                  <a:extLst>
                    <a:ext uri="{9D8B030D-6E8A-4147-A177-3AD203B41FA5}">
                      <a16:colId xmlns:a16="http://schemas.microsoft.com/office/drawing/2014/main" val="1792577836"/>
                    </a:ext>
                  </a:extLst>
                </a:gridCol>
                <a:gridCol w="776147">
                  <a:extLst>
                    <a:ext uri="{9D8B030D-6E8A-4147-A177-3AD203B41FA5}">
                      <a16:colId xmlns:a16="http://schemas.microsoft.com/office/drawing/2014/main" val="1834687707"/>
                    </a:ext>
                  </a:extLst>
                </a:gridCol>
              </a:tblGrid>
              <a:tr h="365954">
                <a:tc>
                  <a:txBody>
                    <a:bodyPr/>
                    <a:lstStyle/>
                    <a:p>
                      <a:r>
                        <a:rPr lang="es-MX" sz="1050" dirty="0"/>
                        <a:t>CAT</a:t>
                      </a:r>
                      <a:endParaRPr lang="es-PE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050" dirty="0"/>
                        <a:t>FBA(FARE BASIS)</a:t>
                      </a:r>
                      <a:endParaRPr lang="es-PE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050" dirty="0"/>
                        <a:t>LOC1</a:t>
                      </a:r>
                      <a:endParaRPr lang="es-PE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050" dirty="0"/>
                        <a:t>LOC 2</a:t>
                      </a:r>
                      <a:endParaRPr lang="es-PE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050" dirty="0"/>
                        <a:t>SEG (SEGMENTO, TOTAL DE TABLAS) </a:t>
                      </a:r>
                      <a:endParaRPr lang="es-PE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050" dirty="0">
                          <a:solidFill>
                            <a:schemeClr val="accent2"/>
                          </a:solidFill>
                        </a:rPr>
                        <a:t>TBLS</a:t>
                      </a:r>
                      <a:endParaRPr lang="es-PE" sz="105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9900059"/>
                  </a:ext>
                </a:extLst>
              </a:tr>
              <a:tr h="653489">
                <a:tc>
                  <a:txBody>
                    <a:bodyPr/>
                    <a:lstStyle/>
                    <a:p>
                      <a:r>
                        <a:rPr lang="es-MX" sz="1050" dirty="0"/>
                        <a:t>002</a:t>
                      </a:r>
                      <a:endParaRPr lang="es-PE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050" dirty="0"/>
                        <a:t>R</a:t>
                      </a:r>
                      <a:endParaRPr lang="es-PE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050" dirty="0"/>
                        <a:t>2</a:t>
                      </a:r>
                      <a:endParaRPr lang="es-PE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050" dirty="0"/>
                        <a:t>002</a:t>
                      </a:r>
                      <a:r>
                        <a:rPr lang="es-MX" sz="1050" dirty="0">
                          <a:solidFill>
                            <a:schemeClr val="accent2"/>
                          </a:solidFill>
                        </a:rPr>
                        <a:t>12345678</a:t>
                      </a:r>
                      <a:r>
                        <a:rPr lang="es-MX" sz="1050" dirty="0"/>
                        <a:t>/002</a:t>
                      </a:r>
                      <a:r>
                        <a:rPr lang="es-MX" sz="1050" dirty="0">
                          <a:solidFill>
                            <a:schemeClr val="accent2"/>
                          </a:solidFill>
                        </a:rPr>
                        <a:t>12345678</a:t>
                      </a:r>
                      <a:br>
                        <a:rPr lang="es-MX" sz="1050" dirty="0">
                          <a:solidFill>
                            <a:schemeClr val="accent2"/>
                          </a:solidFill>
                        </a:rPr>
                      </a:br>
                      <a:br>
                        <a:rPr lang="es-MX" sz="1050" dirty="0">
                          <a:solidFill>
                            <a:schemeClr val="accent2"/>
                          </a:solidFill>
                        </a:rPr>
                      </a:br>
                      <a:r>
                        <a:rPr lang="es-MX" sz="1050" dirty="0">
                          <a:solidFill>
                            <a:schemeClr val="tx1"/>
                          </a:solidFill>
                        </a:rPr>
                        <a:t>categoría</a:t>
                      </a:r>
                      <a:r>
                        <a:rPr lang="es-MX" sz="1050" dirty="0">
                          <a:solidFill>
                            <a:schemeClr val="accent2"/>
                          </a:solidFill>
                        </a:rPr>
                        <a:t>/</a:t>
                      </a:r>
                      <a:r>
                        <a:rPr lang="es-MX" sz="1050" dirty="0" err="1">
                          <a:solidFill>
                            <a:schemeClr val="accent2"/>
                          </a:solidFill>
                        </a:rPr>
                        <a:t>tbls</a:t>
                      </a:r>
                      <a:endParaRPr lang="es-PE" sz="105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0219402"/>
                  </a:ext>
                </a:extLst>
              </a:tr>
            </a:tbl>
          </a:graphicData>
        </a:graphic>
      </p:graphicFrame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A0AB7D0F-67A1-0AC4-9345-851619101015}"/>
              </a:ext>
            </a:extLst>
          </p:cNvPr>
          <p:cNvCxnSpPr>
            <a:cxnSpLocks/>
          </p:cNvCxnSpPr>
          <p:nvPr/>
        </p:nvCxnSpPr>
        <p:spPr>
          <a:xfrm>
            <a:off x="9070847" y="3654947"/>
            <a:ext cx="1032178" cy="10843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1F306D5D-66D1-ECFB-BFDE-8E01375DC932}"/>
              </a:ext>
            </a:extLst>
          </p:cNvPr>
          <p:cNvCxnSpPr/>
          <p:nvPr/>
        </p:nvCxnSpPr>
        <p:spPr>
          <a:xfrm>
            <a:off x="8392003" y="3654947"/>
            <a:ext cx="868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ángulo 9">
            <a:extLst>
              <a:ext uri="{FF2B5EF4-FFF2-40B4-BE49-F238E27FC236}">
                <a16:creationId xmlns:a16="http://schemas.microsoft.com/office/drawing/2014/main" id="{4F99AE8D-296E-E00A-C45D-D9D9718A338E}"/>
              </a:ext>
            </a:extLst>
          </p:cNvPr>
          <p:cNvSpPr/>
          <p:nvPr/>
        </p:nvSpPr>
        <p:spPr>
          <a:xfrm>
            <a:off x="9753833" y="4129255"/>
            <a:ext cx="875561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Modal</a:t>
            </a:r>
            <a:endParaRPr lang="es-ES" sz="200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29069D20-4DD1-B5C0-2E06-B86A8C75B86D}"/>
              </a:ext>
            </a:extLst>
          </p:cNvPr>
          <p:cNvSpPr/>
          <p:nvPr/>
        </p:nvSpPr>
        <p:spPr>
          <a:xfrm>
            <a:off x="7222665" y="4739249"/>
            <a:ext cx="4472099" cy="8412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F416EC0-3745-BF0E-7CBE-5E00DA2E1DB4}"/>
              </a:ext>
            </a:extLst>
          </p:cNvPr>
          <p:cNvSpPr/>
          <p:nvPr/>
        </p:nvSpPr>
        <p:spPr>
          <a:xfrm>
            <a:off x="7332844" y="4968699"/>
            <a:ext cx="425174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1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Mostrara información de categorías</a:t>
            </a:r>
          </a:p>
          <a:p>
            <a:pPr algn="ctr"/>
            <a:r>
              <a:rPr lang="es-ES" sz="1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(lo de la búsqueda de </a:t>
            </a:r>
            <a:r>
              <a:rPr lang="es-ES" sz="1200" dirty="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Categorias</a:t>
            </a:r>
            <a:r>
              <a:rPr lang="es-ES" sz="1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A2245 (Se puede reutilizar))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0AC87F1F-0341-996F-DF77-CB27B3F2B6BB}"/>
              </a:ext>
            </a:extLst>
          </p:cNvPr>
          <p:cNvSpPr/>
          <p:nvPr/>
        </p:nvSpPr>
        <p:spPr>
          <a:xfrm>
            <a:off x="1889345" y="5707697"/>
            <a:ext cx="4472099" cy="8412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C2CC3D47-FD4A-6D14-D538-F3C60CBFF332}"/>
              </a:ext>
            </a:extLst>
          </p:cNvPr>
          <p:cNvSpPr/>
          <p:nvPr/>
        </p:nvSpPr>
        <p:spPr>
          <a:xfrm>
            <a:off x="2624502" y="5897488"/>
            <a:ext cx="3001783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1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Puede tener apéndices(mas información) ,</a:t>
            </a:r>
          </a:p>
          <a:p>
            <a:pPr algn="ctr"/>
            <a:r>
              <a:rPr lang="es-ES" sz="1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si el campo tabla viene diferente a 8 ceros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F39173CD-1E96-01C5-3555-EA75C3D01919}"/>
              </a:ext>
            </a:extLst>
          </p:cNvPr>
          <p:cNvSpPr/>
          <p:nvPr/>
        </p:nvSpPr>
        <p:spPr>
          <a:xfrm>
            <a:off x="4568129" y="4999476"/>
            <a:ext cx="875561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Modal</a:t>
            </a:r>
            <a:endParaRPr lang="es-ES" sz="200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C2A82C17-B3FF-AC9F-C676-E5AA2766AC17}"/>
              </a:ext>
            </a:extLst>
          </p:cNvPr>
          <p:cNvCxnSpPr>
            <a:cxnSpLocks/>
            <a:stCxn id="11" idx="1"/>
          </p:cNvCxnSpPr>
          <p:nvPr/>
        </p:nvCxnSpPr>
        <p:spPr>
          <a:xfrm flipH="1">
            <a:off x="4901183" y="5159873"/>
            <a:ext cx="2321482" cy="4602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ángulo 17">
            <a:extLst>
              <a:ext uri="{FF2B5EF4-FFF2-40B4-BE49-F238E27FC236}">
                <a16:creationId xmlns:a16="http://schemas.microsoft.com/office/drawing/2014/main" id="{5DA84F6E-0BF5-6130-00FE-35E7B4AB545E}"/>
              </a:ext>
            </a:extLst>
          </p:cNvPr>
          <p:cNvSpPr/>
          <p:nvPr/>
        </p:nvSpPr>
        <p:spPr>
          <a:xfrm>
            <a:off x="624103" y="4106455"/>
            <a:ext cx="4249946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2000" dirty="0">
                <a:ln w="0"/>
                <a:solidFill>
                  <a:schemeClr val="accent5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Tabla cambia layout según categoría </a:t>
            </a:r>
          </a:p>
        </p:txBody>
      </p:sp>
    </p:spTree>
    <p:extLst>
      <p:ext uri="{BB962C8B-B14F-4D97-AF65-F5344CB8AC3E}">
        <p14:creationId xmlns:p14="http://schemas.microsoft.com/office/powerpoint/2010/main" val="42653299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3F654-F4CF-FEAF-542E-EADA890C5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EF4CD770-2AD2-93E7-6EC5-1DCC43145796}"/>
              </a:ext>
            </a:extLst>
          </p:cNvPr>
          <p:cNvSpPr/>
          <p:nvPr/>
        </p:nvSpPr>
        <p:spPr>
          <a:xfrm>
            <a:off x="486262" y="551179"/>
            <a:ext cx="6723572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S900 -&gt;  Tabla A2372 (información viene en solo una trama) 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B5987D7-40E3-5982-C9F7-19C5669FC973}"/>
              </a:ext>
            </a:extLst>
          </p:cNvPr>
          <p:cNvSpPr/>
          <p:nvPr/>
        </p:nvSpPr>
        <p:spPr>
          <a:xfrm>
            <a:off x="635077" y="1246239"/>
            <a:ext cx="8362619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E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Filtros:</a:t>
            </a:r>
          </a:p>
          <a:p>
            <a:pPr lvl="1"/>
            <a:r>
              <a:rPr lang="es-E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Cat   -&gt; </a:t>
            </a:r>
            <a:r>
              <a:rPr lang="es-ES" dirty="0">
                <a:ln w="0"/>
                <a:solidFill>
                  <a:schemeClr val="accent4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**** (3 CARACTERES seleccionable solo 1) </a:t>
            </a:r>
            <a:r>
              <a:rPr lang="es-ES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 Obligatorio</a:t>
            </a:r>
          </a:p>
          <a:p>
            <a:pPr lvl="1"/>
            <a:r>
              <a:rPr lang="es-ES" dirty="0">
                <a:ln w="0"/>
                <a:solidFill>
                  <a:schemeClr val="accent4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TBL -&gt; **** (8 CARACTERES, solo 1) </a:t>
            </a:r>
            <a:r>
              <a:rPr lang="es-ES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 Obligatorio</a:t>
            </a:r>
          </a:p>
          <a:p>
            <a:pPr lvl="1"/>
            <a:endParaRPr lang="es-ES" dirty="0">
              <a:ln w="0"/>
              <a:solidFill>
                <a:schemeClr val="accent4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lvl="1"/>
            <a:endParaRPr lang="es-ES" dirty="0">
              <a:ln w="0"/>
              <a:solidFill>
                <a:schemeClr val="accent4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es-ES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1269E63-DF32-0559-A53B-087055207B93}"/>
              </a:ext>
            </a:extLst>
          </p:cNvPr>
          <p:cNvSpPr/>
          <p:nvPr/>
        </p:nvSpPr>
        <p:spPr>
          <a:xfrm>
            <a:off x="486262" y="2464292"/>
            <a:ext cx="1496885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RESPUESTA</a:t>
            </a:r>
            <a:endParaRPr lang="es-ES" sz="200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0CCEA78C-FD0E-E6EC-6333-1512D935C0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2042010"/>
              </p:ext>
            </p:extLst>
          </p:nvPr>
        </p:nvGraphicFramePr>
        <p:xfrm>
          <a:off x="486262" y="3000565"/>
          <a:ext cx="10795659" cy="10649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7085">
                  <a:extLst>
                    <a:ext uri="{9D8B030D-6E8A-4147-A177-3AD203B41FA5}">
                      <a16:colId xmlns:a16="http://schemas.microsoft.com/office/drawing/2014/main" val="2533269336"/>
                    </a:ext>
                  </a:extLst>
                </a:gridCol>
                <a:gridCol w="2732651">
                  <a:extLst>
                    <a:ext uri="{9D8B030D-6E8A-4147-A177-3AD203B41FA5}">
                      <a16:colId xmlns:a16="http://schemas.microsoft.com/office/drawing/2014/main" val="2586967719"/>
                    </a:ext>
                  </a:extLst>
                </a:gridCol>
                <a:gridCol w="926975">
                  <a:extLst>
                    <a:ext uri="{9D8B030D-6E8A-4147-A177-3AD203B41FA5}">
                      <a16:colId xmlns:a16="http://schemas.microsoft.com/office/drawing/2014/main" val="3614429627"/>
                    </a:ext>
                  </a:extLst>
                </a:gridCol>
                <a:gridCol w="1542237">
                  <a:extLst>
                    <a:ext uri="{9D8B030D-6E8A-4147-A177-3AD203B41FA5}">
                      <a16:colId xmlns:a16="http://schemas.microsoft.com/office/drawing/2014/main" val="657969928"/>
                    </a:ext>
                  </a:extLst>
                </a:gridCol>
                <a:gridCol w="1542237">
                  <a:extLst>
                    <a:ext uri="{9D8B030D-6E8A-4147-A177-3AD203B41FA5}">
                      <a16:colId xmlns:a16="http://schemas.microsoft.com/office/drawing/2014/main" val="16470712"/>
                    </a:ext>
                  </a:extLst>
                </a:gridCol>
                <a:gridCol w="2308327">
                  <a:extLst>
                    <a:ext uri="{9D8B030D-6E8A-4147-A177-3AD203B41FA5}">
                      <a16:colId xmlns:a16="http://schemas.microsoft.com/office/drawing/2014/main" val="1792577836"/>
                    </a:ext>
                  </a:extLst>
                </a:gridCol>
                <a:gridCol w="776147">
                  <a:extLst>
                    <a:ext uri="{9D8B030D-6E8A-4147-A177-3AD203B41FA5}">
                      <a16:colId xmlns:a16="http://schemas.microsoft.com/office/drawing/2014/main" val="1834687707"/>
                    </a:ext>
                  </a:extLst>
                </a:gridCol>
              </a:tblGrid>
              <a:tr h="365954">
                <a:tc>
                  <a:txBody>
                    <a:bodyPr/>
                    <a:lstStyle/>
                    <a:p>
                      <a:r>
                        <a:rPr lang="es-MX" sz="1050" dirty="0"/>
                        <a:t>CAT</a:t>
                      </a:r>
                      <a:endParaRPr lang="es-PE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050" dirty="0"/>
                        <a:t>FBA(FARE BASIS)</a:t>
                      </a:r>
                      <a:endParaRPr lang="es-PE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050" dirty="0"/>
                        <a:t>LOC1</a:t>
                      </a:r>
                      <a:endParaRPr lang="es-PE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050" dirty="0"/>
                        <a:t>LOC 2</a:t>
                      </a:r>
                      <a:endParaRPr lang="es-PE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050" dirty="0"/>
                        <a:t>SEG (SEGMENTO, TOTAL DE TABLAS) </a:t>
                      </a:r>
                      <a:endParaRPr lang="es-PE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050" dirty="0">
                          <a:solidFill>
                            <a:schemeClr val="accent2"/>
                          </a:solidFill>
                        </a:rPr>
                        <a:t>TBLS</a:t>
                      </a:r>
                      <a:endParaRPr lang="es-PE" sz="105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9900059"/>
                  </a:ext>
                </a:extLst>
              </a:tr>
              <a:tr h="653489">
                <a:tc>
                  <a:txBody>
                    <a:bodyPr/>
                    <a:lstStyle/>
                    <a:p>
                      <a:r>
                        <a:rPr lang="es-MX" sz="1050" dirty="0"/>
                        <a:t>002</a:t>
                      </a:r>
                      <a:endParaRPr lang="es-PE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050" dirty="0"/>
                        <a:t>R</a:t>
                      </a:r>
                      <a:endParaRPr lang="es-PE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050" dirty="0"/>
                        <a:t>2</a:t>
                      </a:r>
                      <a:endParaRPr lang="es-PE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050" dirty="0"/>
                        <a:t>002</a:t>
                      </a:r>
                      <a:r>
                        <a:rPr lang="es-MX" sz="1050" dirty="0">
                          <a:solidFill>
                            <a:schemeClr val="accent2"/>
                          </a:solidFill>
                        </a:rPr>
                        <a:t>12345678</a:t>
                      </a:r>
                      <a:r>
                        <a:rPr lang="es-MX" sz="1050" dirty="0"/>
                        <a:t>/002</a:t>
                      </a:r>
                      <a:r>
                        <a:rPr lang="es-MX" sz="1050" dirty="0">
                          <a:solidFill>
                            <a:schemeClr val="accent2"/>
                          </a:solidFill>
                        </a:rPr>
                        <a:t>12345678</a:t>
                      </a:r>
                      <a:br>
                        <a:rPr lang="es-MX" sz="1050" dirty="0">
                          <a:solidFill>
                            <a:schemeClr val="accent2"/>
                          </a:solidFill>
                        </a:rPr>
                      </a:br>
                      <a:br>
                        <a:rPr lang="es-MX" sz="1050" dirty="0">
                          <a:solidFill>
                            <a:schemeClr val="accent2"/>
                          </a:solidFill>
                        </a:rPr>
                      </a:br>
                      <a:r>
                        <a:rPr lang="es-MX" sz="1050" dirty="0">
                          <a:solidFill>
                            <a:schemeClr val="tx1"/>
                          </a:solidFill>
                        </a:rPr>
                        <a:t>categoría</a:t>
                      </a:r>
                      <a:r>
                        <a:rPr lang="es-MX" sz="1050" dirty="0">
                          <a:solidFill>
                            <a:schemeClr val="accent2"/>
                          </a:solidFill>
                        </a:rPr>
                        <a:t>/</a:t>
                      </a:r>
                      <a:r>
                        <a:rPr lang="es-MX" sz="1050" dirty="0" err="1">
                          <a:solidFill>
                            <a:schemeClr val="accent2"/>
                          </a:solidFill>
                        </a:rPr>
                        <a:t>tbls</a:t>
                      </a:r>
                      <a:endParaRPr lang="es-PE" sz="105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0219402"/>
                  </a:ext>
                </a:extLst>
              </a:tr>
            </a:tbl>
          </a:graphicData>
        </a:graphic>
      </p:graphicFrame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A519A2C5-B620-119D-BD6A-4E3BA7A9BBFB}"/>
              </a:ext>
            </a:extLst>
          </p:cNvPr>
          <p:cNvCxnSpPr>
            <a:cxnSpLocks/>
          </p:cNvCxnSpPr>
          <p:nvPr/>
        </p:nvCxnSpPr>
        <p:spPr>
          <a:xfrm>
            <a:off x="8933006" y="3638987"/>
            <a:ext cx="1032178" cy="10843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1196FA5A-F1E6-FD85-7B10-74C2C0D81CF2}"/>
              </a:ext>
            </a:extLst>
          </p:cNvPr>
          <p:cNvCxnSpPr/>
          <p:nvPr/>
        </p:nvCxnSpPr>
        <p:spPr>
          <a:xfrm>
            <a:off x="8254162" y="3638987"/>
            <a:ext cx="868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ángulo 7">
            <a:extLst>
              <a:ext uri="{FF2B5EF4-FFF2-40B4-BE49-F238E27FC236}">
                <a16:creationId xmlns:a16="http://schemas.microsoft.com/office/drawing/2014/main" id="{7F3FD971-0235-85F0-3592-7C9A9CABF231}"/>
              </a:ext>
            </a:extLst>
          </p:cNvPr>
          <p:cNvSpPr/>
          <p:nvPr/>
        </p:nvSpPr>
        <p:spPr>
          <a:xfrm>
            <a:off x="9615992" y="4113295"/>
            <a:ext cx="875561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Modal</a:t>
            </a:r>
            <a:endParaRPr lang="es-ES" sz="200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DE540B80-4915-9071-02D1-9C8A80D0E76A}"/>
              </a:ext>
            </a:extLst>
          </p:cNvPr>
          <p:cNvSpPr/>
          <p:nvPr/>
        </p:nvSpPr>
        <p:spPr>
          <a:xfrm>
            <a:off x="7084824" y="4723289"/>
            <a:ext cx="4472099" cy="8412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8EA7444A-1380-F3B7-5E10-3FBD21F3BC69}"/>
              </a:ext>
            </a:extLst>
          </p:cNvPr>
          <p:cNvSpPr/>
          <p:nvPr/>
        </p:nvSpPr>
        <p:spPr>
          <a:xfrm>
            <a:off x="7195003" y="4952739"/>
            <a:ext cx="425174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1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Mostrara información de categorías</a:t>
            </a:r>
          </a:p>
          <a:p>
            <a:pPr algn="ctr"/>
            <a:r>
              <a:rPr lang="es-ES" sz="1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(lo de la búsqueda de </a:t>
            </a:r>
            <a:r>
              <a:rPr lang="es-ES" sz="1200" dirty="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Categorias</a:t>
            </a:r>
            <a:r>
              <a:rPr lang="es-ES" sz="1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A2245 (Se puede reutilizar))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582DFB4-DD48-22FA-1D19-C4BA786F1A97}"/>
              </a:ext>
            </a:extLst>
          </p:cNvPr>
          <p:cNvSpPr/>
          <p:nvPr/>
        </p:nvSpPr>
        <p:spPr>
          <a:xfrm>
            <a:off x="1751504" y="5691737"/>
            <a:ext cx="4472099" cy="8412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CF40C486-D1B3-0A05-9F6F-1CF981474513}"/>
              </a:ext>
            </a:extLst>
          </p:cNvPr>
          <p:cNvSpPr/>
          <p:nvPr/>
        </p:nvSpPr>
        <p:spPr>
          <a:xfrm>
            <a:off x="2486661" y="5881528"/>
            <a:ext cx="3001783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1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Puede tener apéndices(mas información) ,</a:t>
            </a:r>
          </a:p>
          <a:p>
            <a:pPr algn="ctr"/>
            <a:r>
              <a:rPr lang="es-ES" sz="1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si el campo tabla viene diferente a 8 ceros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59661AB2-5885-4051-22C9-1F1FAE2F931C}"/>
              </a:ext>
            </a:extLst>
          </p:cNvPr>
          <p:cNvSpPr/>
          <p:nvPr/>
        </p:nvSpPr>
        <p:spPr>
          <a:xfrm>
            <a:off x="4430288" y="4983516"/>
            <a:ext cx="875561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Modal</a:t>
            </a:r>
            <a:endParaRPr lang="es-ES" sz="200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7E058DB1-459D-D99D-CE79-0B779CE9F4BC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4763342" y="5143913"/>
            <a:ext cx="2321482" cy="4602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ángulo 15">
            <a:extLst>
              <a:ext uri="{FF2B5EF4-FFF2-40B4-BE49-F238E27FC236}">
                <a16:creationId xmlns:a16="http://schemas.microsoft.com/office/drawing/2014/main" id="{6AA3ADA6-EBE0-7C1C-3587-CF639D0C4AF2}"/>
              </a:ext>
            </a:extLst>
          </p:cNvPr>
          <p:cNvSpPr/>
          <p:nvPr/>
        </p:nvSpPr>
        <p:spPr>
          <a:xfrm>
            <a:off x="459688" y="4090495"/>
            <a:ext cx="4249946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2000" dirty="0">
                <a:ln w="0"/>
                <a:solidFill>
                  <a:schemeClr val="accent5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Tabla cambia layout según categoría </a:t>
            </a:r>
          </a:p>
        </p:txBody>
      </p:sp>
    </p:spTree>
    <p:extLst>
      <p:ext uri="{BB962C8B-B14F-4D97-AF65-F5344CB8AC3E}">
        <p14:creationId xmlns:p14="http://schemas.microsoft.com/office/powerpoint/2010/main" val="36424275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A1722-31BF-17EF-6005-79965B1AA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5A0DC10E-3B07-72CD-F596-1766651031B4}"/>
              </a:ext>
            </a:extLst>
          </p:cNvPr>
          <p:cNvSpPr/>
          <p:nvPr/>
        </p:nvSpPr>
        <p:spPr>
          <a:xfrm>
            <a:off x="1732153" y="2842492"/>
            <a:ext cx="8727710" cy="193899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6000" dirty="0">
                <a:ln w="0"/>
                <a:solidFill>
                  <a:schemeClr val="accent5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FOOTNOTE(R2 , R3, S900)</a:t>
            </a:r>
          </a:p>
          <a:p>
            <a:pPr algn="ctr"/>
            <a:r>
              <a:rPr lang="es-ES" sz="6000" dirty="0">
                <a:ln w="0"/>
                <a:solidFill>
                  <a:schemeClr val="accent5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VISUALIZACIÓN</a:t>
            </a:r>
          </a:p>
        </p:txBody>
      </p:sp>
    </p:spTree>
    <p:extLst>
      <p:ext uri="{BB962C8B-B14F-4D97-AF65-F5344CB8AC3E}">
        <p14:creationId xmlns:p14="http://schemas.microsoft.com/office/powerpoint/2010/main" val="20879301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A6D40-ADBF-FEB7-03B9-DB9417CB0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B4F9B089-5609-710D-5574-146358642405}"/>
              </a:ext>
            </a:extLst>
          </p:cNvPr>
          <p:cNvSpPr/>
          <p:nvPr/>
        </p:nvSpPr>
        <p:spPr>
          <a:xfrm>
            <a:off x="605816" y="452992"/>
            <a:ext cx="7933582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R2</a:t>
            </a:r>
            <a:r>
              <a:rPr lang="es-ES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Reglas   -&gt;  Tabla A2390 (información viene en campos específicos) 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868438C-D937-CA9F-79A9-7A63ABE21CC4}"/>
              </a:ext>
            </a:extLst>
          </p:cNvPr>
          <p:cNvSpPr/>
          <p:nvPr/>
        </p:nvSpPr>
        <p:spPr>
          <a:xfrm>
            <a:off x="790525" y="1003235"/>
            <a:ext cx="11602857" cy="224676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E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Filtros:</a:t>
            </a:r>
          </a:p>
          <a:p>
            <a:pPr lvl="1"/>
            <a:r>
              <a:rPr lang="es-E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Fecha </a:t>
            </a:r>
            <a:r>
              <a:rPr lang="es-ES" sz="1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Effectividad</a:t>
            </a:r>
            <a:r>
              <a:rPr lang="es-E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-&gt;  </a:t>
            </a:r>
            <a:r>
              <a:rPr lang="es-ES" sz="1400" dirty="0">
                <a:ln w="0"/>
                <a:solidFill>
                  <a:schemeClr val="accent4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YYYMMDD  (0250601)   </a:t>
            </a:r>
            <a:r>
              <a:rPr lang="es-E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 </a:t>
            </a:r>
            <a:r>
              <a:rPr lang="es-ES" sz="14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Obligatorio  (uno o el otro)</a:t>
            </a:r>
          </a:p>
          <a:p>
            <a:pPr lvl="1"/>
            <a:r>
              <a:rPr lang="es-E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Fecha Discontinuidad -&gt; </a:t>
            </a:r>
            <a:r>
              <a:rPr lang="es-ES" sz="1400" dirty="0">
                <a:ln w="0"/>
                <a:solidFill>
                  <a:schemeClr val="accent4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YYYMMDD  (0250601)  </a:t>
            </a:r>
            <a:r>
              <a:rPr lang="es-E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 </a:t>
            </a:r>
            <a:r>
              <a:rPr lang="es-ES" sz="14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Obligatorio (uno o el otro) </a:t>
            </a:r>
          </a:p>
          <a:p>
            <a:pPr lvl="1"/>
            <a:r>
              <a:rPr lang="es-E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Operador -&gt; </a:t>
            </a:r>
            <a:r>
              <a:rPr lang="es-ES" sz="1400" dirty="0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=, =&gt;, &lt;=  (efectividad =&gt; discontinuidad  ; efectividad = discontinuidad)(seleccionable)</a:t>
            </a:r>
          </a:p>
          <a:p>
            <a:pPr lvl="1"/>
            <a:r>
              <a:rPr lang="es-E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Fare Basic (</a:t>
            </a:r>
            <a:r>
              <a:rPr lang="es-ES" sz="1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cod</a:t>
            </a:r>
            <a:r>
              <a:rPr lang="es-E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asignado a una tarifa)   -&gt;  </a:t>
            </a:r>
            <a:r>
              <a:rPr lang="es-ES" sz="1400" dirty="0">
                <a:ln w="0"/>
                <a:solidFill>
                  <a:schemeClr val="accent4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********* (10 CARACTERES)</a:t>
            </a:r>
          </a:p>
          <a:p>
            <a:pPr lvl="1"/>
            <a:r>
              <a:rPr lang="es-E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Mercado   -&gt; </a:t>
            </a:r>
            <a:r>
              <a:rPr lang="es-ES" sz="1400" dirty="0">
                <a:ln w="0"/>
                <a:solidFill>
                  <a:schemeClr val="accent4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*** (3 CARACTERES)</a:t>
            </a:r>
          </a:p>
          <a:p>
            <a:pPr lvl="1"/>
            <a:r>
              <a:rPr lang="es-ES" sz="1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Footnote</a:t>
            </a:r>
            <a:r>
              <a:rPr lang="es-E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-&gt; </a:t>
            </a:r>
            <a:r>
              <a:rPr lang="es-ES" sz="1400" dirty="0">
                <a:ln w="0"/>
                <a:solidFill>
                  <a:schemeClr val="accent4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*** (3 CARACTERES)</a:t>
            </a:r>
          </a:p>
          <a:p>
            <a:pPr lvl="1"/>
            <a:r>
              <a:rPr lang="es-E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Cat   -&gt; </a:t>
            </a:r>
            <a:r>
              <a:rPr lang="es-ES" sz="1400" dirty="0">
                <a:ln w="0"/>
                <a:solidFill>
                  <a:schemeClr val="accent4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**** (3 CARACTERES, múltiple selección (</a:t>
            </a:r>
            <a:r>
              <a:rPr lang="es-ES" sz="1400" dirty="0" err="1">
                <a:ln w="0"/>
                <a:solidFill>
                  <a:schemeClr val="accent4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all</a:t>
            </a:r>
            <a:r>
              <a:rPr lang="es-ES" sz="1400" dirty="0">
                <a:ln w="0"/>
                <a:solidFill>
                  <a:schemeClr val="accent4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o 001,002))</a:t>
            </a:r>
          </a:p>
          <a:p>
            <a:pPr lvl="1"/>
            <a:endParaRPr lang="es-ES" sz="1400" dirty="0">
              <a:ln w="0"/>
              <a:solidFill>
                <a:schemeClr val="accent4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es-ES" sz="1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FB2E57D-7550-FA1A-3F54-EC7EB271DFD4}"/>
              </a:ext>
            </a:extLst>
          </p:cNvPr>
          <p:cNvSpPr/>
          <p:nvPr/>
        </p:nvSpPr>
        <p:spPr>
          <a:xfrm>
            <a:off x="605816" y="2727140"/>
            <a:ext cx="1496885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RESPUESTA</a:t>
            </a:r>
            <a:endParaRPr lang="es-ES" sz="200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D07FD80E-AC81-14EF-46FE-C2F9B66F30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7839267"/>
              </p:ext>
            </p:extLst>
          </p:nvPr>
        </p:nvGraphicFramePr>
        <p:xfrm>
          <a:off x="605816" y="3263413"/>
          <a:ext cx="10795659" cy="10649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7085">
                  <a:extLst>
                    <a:ext uri="{9D8B030D-6E8A-4147-A177-3AD203B41FA5}">
                      <a16:colId xmlns:a16="http://schemas.microsoft.com/office/drawing/2014/main" val="2533269336"/>
                    </a:ext>
                  </a:extLst>
                </a:gridCol>
                <a:gridCol w="2732651">
                  <a:extLst>
                    <a:ext uri="{9D8B030D-6E8A-4147-A177-3AD203B41FA5}">
                      <a16:colId xmlns:a16="http://schemas.microsoft.com/office/drawing/2014/main" val="2586967719"/>
                    </a:ext>
                  </a:extLst>
                </a:gridCol>
                <a:gridCol w="926975">
                  <a:extLst>
                    <a:ext uri="{9D8B030D-6E8A-4147-A177-3AD203B41FA5}">
                      <a16:colId xmlns:a16="http://schemas.microsoft.com/office/drawing/2014/main" val="3614429627"/>
                    </a:ext>
                  </a:extLst>
                </a:gridCol>
                <a:gridCol w="1542237">
                  <a:extLst>
                    <a:ext uri="{9D8B030D-6E8A-4147-A177-3AD203B41FA5}">
                      <a16:colId xmlns:a16="http://schemas.microsoft.com/office/drawing/2014/main" val="657969928"/>
                    </a:ext>
                  </a:extLst>
                </a:gridCol>
                <a:gridCol w="1542237">
                  <a:extLst>
                    <a:ext uri="{9D8B030D-6E8A-4147-A177-3AD203B41FA5}">
                      <a16:colId xmlns:a16="http://schemas.microsoft.com/office/drawing/2014/main" val="16470712"/>
                    </a:ext>
                  </a:extLst>
                </a:gridCol>
                <a:gridCol w="2308327">
                  <a:extLst>
                    <a:ext uri="{9D8B030D-6E8A-4147-A177-3AD203B41FA5}">
                      <a16:colId xmlns:a16="http://schemas.microsoft.com/office/drawing/2014/main" val="1792577836"/>
                    </a:ext>
                  </a:extLst>
                </a:gridCol>
                <a:gridCol w="776147">
                  <a:extLst>
                    <a:ext uri="{9D8B030D-6E8A-4147-A177-3AD203B41FA5}">
                      <a16:colId xmlns:a16="http://schemas.microsoft.com/office/drawing/2014/main" val="1834687707"/>
                    </a:ext>
                  </a:extLst>
                </a:gridCol>
              </a:tblGrid>
              <a:tr h="365954">
                <a:tc>
                  <a:txBody>
                    <a:bodyPr/>
                    <a:lstStyle/>
                    <a:p>
                      <a:r>
                        <a:rPr lang="es-MX" sz="1050" dirty="0"/>
                        <a:t>CAT</a:t>
                      </a:r>
                      <a:endParaRPr lang="es-PE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050" dirty="0"/>
                        <a:t>FBA(FARE BASIS)</a:t>
                      </a:r>
                      <a:endParaRPr lang="es-PE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050" dirty="0"/>
                        <a:t>LOC1</a:t>
                      </a:r>
                      <a:endParaRPr lang="es-PE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050" dirty="0"/>
                        <a:t>LOC 2</a:t>
                      </a:r>
                      <a:endParaRPr lang="es-PE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050" dirty="0"/>
                        <a:t>SEG (SEGMENTO, TOTAL DE TABLAS) </a:t>
                      </a:r>
                      <a:endParaRPr lang="es-PE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050" dirty="0">
                          <a:solidFill>
                            <a:schemeClr val="accent2"/>
                          </a:solidFill>
                        </a:rPr>
                        <a:t>TBLS</a:t>
                      </a:r>
                      <a:endParaRPr lang="es-PE" sz="105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9900059"/>
                  </a:ext>
                </a:extLst>
              </a:tr>
              <a:tr h="653489">
                <a:tc>
                  <a:txBody>
                    <a:bodyPr/>
                    <a:lstStyle/>
                    <a:p>
                      <a:r>
                        <a:rPr lang="es-MX" sz="1050" dirty="0"/>
                        <a:t>002</a:t>
                      </a:r>
                      <a:endParaRPr lang="es-PE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050" dirty="0"/>
                        <a:t>R</a:t>
                      </a:r>
                      <a:endParaRPr lang="es-PE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050" dirty="0"/>
                        <a:t>2</a:t>
                      </a:r>
                      <a:endParaRPr lang="es-PE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050" dirty="0"/>
                        <a:t>002</a:t>
                      </a:r>
                      <a:r>
                        <a:rPr lang="es-MX" sz="1050" dirty="0">
                          <a:solidFill>
                            <a:schemeClr val="accent2"/>
                          </a:solidFill>
                        </a:rPr>
                        <a:t>12345678</a:t>
                      </a:r>
                      <a:r>
                        <a:rPr lang="es-MX" sz="1050" dirty="0"/>
                        <a:t>/002</a:t>
                      </a:r>
                      <a:r>
                        <a:rPr lang="es-MX" sz="1050" dirty="0">
                          <a:solidFill>
                            <a:schemeClr val="accent2"/>
                          </a:solidFill>
                        </a:rPr>
                        <a:t>12345678</a:t>
                      </a:r>
                      <a:br>
                        <a:rPr lang="es-MX" sz="1050" dirty="0">
                          <a:solidFill>
                            <a:schemeClr val="accent2"/>
                          </a:solidFill>
                        </a:rPr>
                      </a:br>
                      <a:br>
                        <a:rPr lang="es-MX" sz="1050" dirty="0">
                          <a:solidFill>
                            <a:schemeClr val="accent2"/>
                          </a:solidFill>
                        </a:rPr>
                      </a:br>
                      <a:r>
                        <a:rPr lang="es-MX" sz="1050" dirty="0">
                          <a:solidFill>
                            <a:schemeClr val="tx1"/>
                          </a:solidFill>
                        </a:rPr>
                        <a:t>categoría</a:t>
                      </a:r>
                      <a:r>
                        <a:rPr lang="es-MX" sz="1050" dirty="0">
                          <a:solidFill>
                            <a:schemeClr val="accent2"/>
                          </a:solidFill>
                        </a:rPr>
                        <a:t>/</a:t>
                      </a:r>
                      <a:r>
                        <a:rPr lang="es-MX" sz="1050" dirty="0" err="1">
                          <a:solidFill>
                            <a:schemeClr val="accent2"/>
                          </a:solidFill>
                        </a:rPr>
                        <a:t>tbls</a:t>
                      </a:r>
                      <a:endParaRPr lang="es-PE" sz="105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0219402"/>
                  </a:ext>
                </a:extLst>
              </a:tr>
            </a:tbl>
          </a:graphicData>
        </a:graphic>
      </p:graphicFrame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7BBD92E9-65B2-D0E0-CA3A-BA970F114694}"/>
              </a:ext>
            </a:extLst>
          </p:cNvPr>
          <p:cNvCxnSpPr>
            <a:cxnSpLocks/>
          </p:cNvCxnSpPr>
          <p:nvPr/>
        </p:nvCxnSpPr>
        <p:spPr>
          <a:xfrm>
            <a:off x="9052560" y="3901835"/>
            <a:ext cx="1032178" cy="10843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79C2A8C5-72A3-0925-1F7E-F106A2588006}"/>
              </a:ext>
            </a:extLst>
          </p:cNvPr>
          <p:cNvCxnSpPr/>
          <p:nvPr/>
        </p:nvCxnSpPr>
        <p:spPr>
          <a:xfrm>
            <a:off x="8373716" y="3901835"/>
            <a:ext cx="868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ángulo 7">
            <a:extLst>
              <a:ext uri="{FF2B5EF4-FFF2-40B4-BE49-F238E27FC236}">
                <a16:creationId xmlns:a16="http://schemas.microsoft.com/office/drawing/2014/main" id="{9111BF06-354F-B766-582F-437B7A654230}"/>
              </a:ext>
            </a:extLst>
          </p:cNvPr>
          <p:cNvSpPr/>
          <p:nvPr/>
        </p:nvSpPr>
        <p:spPr>
          <a:xfrm>
            <a:off x="9735546" y="4376143"/>
            <a:ext cx="875561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Modal</a:t>
            </a:r>
            <a:endParaRPr lang="es-ES" sz="200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CBA218AE-DC60-FB5E-0672-7CB45178453D}"/>
              </a:ext>
            </a:extLst>
          </p:cNvPr>
          <p:cNvSpPr/>
          <p:nvPr/>
        </p:nvSpPr>
        <p:spPr>
          <a:xfrm>
            <a:off x="7204378" y="4986137"/>
            <a:ext cx="4472099" cy="8412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FFE24A37-71B3-2664-C39F-6E3E58CDAC62}"/>
              </a:ext>
            </a:extLst>
          </p:cNvPr>
          <p:cNvSpPr/>
          <p:nvPr/>
        </p:nvSpPr>
        <p:spPr>
          <a:xfrm>
            <a:off x="7314557" y="5215587"/>
            <a:ext cx="425174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1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Mostrara información de categorías</a:t>
            </a:r>
          </a:p>
          <a:p>
            <a:pPr algn="ctr"/>
            <a:r>
              <a:rPr lang="es-ES" sz="1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(lo de la búsqueda de </a:t>
            </a:r>
            <a:r>
              <a:rPr lang="es-ES" sz="1200" dirty="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Categorias</a:t>
            </a:r>
            <a:r>
              <a:rPr lang="es-ES" sz="1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A2245 (Se puede reutilizar))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D9B15C7-47D2-738B-782F-6279CA76B357}"/>
              </a:ext>
            </a:extLst>
          </p:cNvPr>
          <p:cNvSpPr/>
          <p:nvPr/>
        </p:nvSpPr>
        <p:spPr>
          <a:xfrm>
            <a:off x="1871058" y="5954585"/>
            <a:ext cx="4472099" cy="8412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546DFC05-D7E1-CDAD-C3DB-AF2E2B1EC025}"/>
              </a:ext>
            </a:extLst>
          </p:cNvPr>
          <p:cNvSpPr/>
          <p:nvPr/>
        </p:nvSpPr>
        <p:spPr>
          <a:xfrm>
            <a:off x="2606215" y="6144376"/>
            <a:ext cx="3001783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1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Puede tener apéndices(mas información) ,</a:t>
            </a:r>
          </a:p>
          <a:p>
            <a:pPr algn="ctr"/>
            <a:r>
              <a:rPr lang="es-ES" sz="1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si el campo tabla viene diferente a 8 ceros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73F03644-BA58-B223-2118-9B23ADA79CD3}"/>
              </a:ext>
            </a:extLst>
          </p:cNvPr>
          <p:cNvSpPr/>
          <p:nvPr/>
        </p:nvSpPr>
        <p:spPr>
          <a:xfrm>
            <a:off x="4549842" y="5246364"/>
            <a:ext cx="875561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Modal</a:t>
            </a:r>
            <a:endParaRPr lang="es-ES" sz="200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BE431DAD-CFA1-13C5-E53B-95D3668ED954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4882896" y="5406761"/>
            <a:ext cx="2321482" cy="4602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ángulo 22">
            <a:extLst>
              <a:ext uri="{FF2B5EF4-FFF2-40B4-BE49-F238E27FC236}">
                <a16:creationId xmlns:a16="http://schemas.microsoft.com/office/drawing/2014/main" id="{E289A285-32A5-64E0-0E75-6B18F7BCAB8D}"/>
              </a:ext>
            </a:extLst>
          </p:cNvPr>
          <p:cNvSpPr/>
          <p:nvPr/>
        </p:nvSpPr>
        <p:spPr>
          <a:xfrm>
            <a:off x="481242" y="4315405"/>
            <a:ext cx="4249946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2000" dirty="0">
                <a:ln w="0"/>
                <a:solidFill>
                  <a:schemeClr val="accent5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Tabla cambia layout según categoría </a:t>
            </a:r>
          </a:p>
        </p:txBody>
      </p:sp>
    </p:spTree>
    <p:extLst>
      <p:ext uri="{BB962C8B-B14F-4D97-AF65-F5344CB8AC3E}">
        <p14:creationId xmlns:p14="http://schemas.microsoft.com/office/powerpoint/2010/main" val="244384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F7577-4E61-5E86-263F-6AA76225B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08F11E62-2965-3251-7522-A1A13FA9059F}"/>
              </a:ext>
            </a:extLst>
          </p:cNvPr>
          <p:cNvSpPr/>
          <p:nvPr/>
        </p:nvSpPr>
        <p:spPr>
          <a:xfrm>
            <a:off x="541808" y="626446"/>
            <a:ext cx="7696018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R3</a:t>
            </a:r>
            <a:r>
              <a:rPr lang="es-ES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s-ES" sz="2000" dirty="0" err="1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Categoria</a:t>
            </a:r>
            <a:r>
              <a:rPr lang="es-ES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-&gt;  Tabla A2245 (información viene en solo una trama) 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0E2D936-85E2-3547-1A22-8BD7EE6D8723}"/>
              </a:ext>
            </a:extLst>
          </p:cNvPr>
          <p:cNvSpPr/>
          <p:nvPr/>
        </p:nvSpPr>
        <p:spPr>
          <a:xfrm>
            <a:off x="605816" y="1247059"/>
            <a:ext cx="8362619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E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Filtros:</a:t>
            </a:r>
          </a:p>
          <a:p>
            <a:pPr lvl="1"/>
            <a:r>
              <a:rPr lang="es-E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Cat   -&gt; </a:t>
            </a:r>
            <a:r>
              <a:rPr lang="es-ES" dirty="0">
                <a:ln w="0"/>
                <a:solidFill>
                  <a:schemeClr val="accent4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**** (3 CARACTERES seleccionable solo 1) </a:t>
            </a:r>
            <a:r>
              <a:rPr lang="es-ES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 Obligatorio</a:t>
            </a:r>
          </a:p>
          <a:p>
            <a:pPr lvl="1"/>
            <a:r>
              <a:rPr lang="es-ES" dirty="0">
                <a:ln w="0"/>
                <a:solidFill>
                  <a:schemeClr val="accent4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TBL -&gt; **** (8 CARACTERES , solo 1) </a:t>
            </a:r>
            <a:r>
              <a:rPr lang="es-ES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 Obligatorio</a:t>
            </a:r>
          </a:p>
          <a:p>
            <a:pPr lvl="1"/>
            <a:endParaRPr lang="es-ES" dirty="0">
              <a:ln w="0"/>
              <a:solidFill>
                <a:schemeClr val="accent4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lvl="1"/>
            <a:endParaRPr lang="es-ES" dirty="0">
              <a:ln w="0"/>
              <a:solidFill>
                <a:schemeClr val="accent4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es-ES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aphicFrame>
        <p:nvGraphicFramePr>
          <p:cNvPr id="27" name="Tabla 26">
            <a:extLst>
              <a:ext uri="{FF2B5EF4-FFF2-40B4-BE49-F238E27FC236}">
                <a16:creationId xmlns:a16="http://schemas.microsoft.com/office/drawing/2014/main" id="{5DAF9BF7-4611-FE5C-E20B-44E560325D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6878260"/>
              </p:ext>
            </p:extLst>
          </p:nvPr>
        </p:nvGraphicFramePr>
        <p:xfrm>
          <a:off x="541808" y="3037961"/>
          <a:ext cx="10795659" cy="10649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7085">
                  <a:extLst>
                    <a:ext uri="{9D8B030D-6E8A-4147-A177-3AD203B41FA5}">
                      <a16:colId xmlns:a16="http://schemas.microsoft.com/office/drawing/2014/main" val="2533269336"/>
                    </a:ext>
                  </a:extLst>
                </a:gridCol>
                <a:gridCol w="2732651">
                  <a:extLst>
                    <a:ext uri="{9D8B030D-6E8A-4147-A177-3AD203B41FA5}">
                      <a16:colId xmlns:a16="http://schemas.microsoft.com/office/drawing/2014/main" val="2586967719"/>
                    </a:ext>
                  </a:extLst>
                </a:gridCol>
                <a:gridCol w="926975">
                  <a:extLst>
                    <a:ext uri="{9D8B030D-6E8A-4147-A177-3AD203B41FA5}">
                      <a16:colId xmlns:a16="http://schemas.microsoft.com/office/drawing/2014/main" val="3614429627"/>
                    </a:ext>
                  </a:extLst>
                </a:gridCol>
                <a:gridCol w="1542237">
                  <a:extLst>
                    <a:ext uri="{9D8B030D-6E8A-4147-A177-3AD203B41FA5}">
                      <a16:colId xmlns:a16="http://schemas.microsoft.com/office/drawing/2014/main" val="657969928"/>
                    </a:ext>
                  </a:extLst>
                </a:gridCol>
                <a:gridCol w="1542237">
                  <a:extLst>
                    <a:ext uri="{9D8B030D-6E8A-4147-A177-3AD203B41FA5}">
                      <a16:colId xmlns:a16="http://schemas.microsoft.com/office/drawing/2014/main" val="16470712"/>
                    </a:ext>
                  </a:extLst>
                </a:gridCol>
                <a:gridCol w="2308327">
                  <a:extLst>
                    <a:ext uri="{9D8B030D-6E8A-4147-A177-3AD203B41FA5}">
                      <a16:colId xmlns:a16="http://schemas.microsoft.com/office/drawing/2014/main" val="1792577836"/>
                    </a:ext>
                  </a:extLst>
                </a:gridCol>
                <a:gridCol w="776147">
                  <a:extLst>
                    <a:ext uri="{9D8B030D-6E8A-4147-A177-3AD203B41FA5}">
                      <a16:colId xmlns:a16="http://schemas.microsoft.com/office/drawing/2014/main" val="1834687707"/>
                    </a:ext>
                  </a:extLst>
                </a:gridCol>
              </a:tblGrid>
              <a:tr h="365954">
                <a:tc>
                  <a:txBody>
                    <a:bodyPr/>
                    <a:lstStyle/>
                    <a:p>
                      <a:r>
                        <a:rPr lang="es-MX" sz="1050" dirty="0"/>
                        <a:t>CAT</a:t>
                      </a:r>
                      <a:endParaRPr lang="es-PE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050" dirty="0"/>
                        <a:t>FBA(FARE BASIS)</a:t>
                      </a:r>
                      <a:endParaRPr lang="es-PE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050" dirty="0"/>
                        <a:t>LOC1</a:t>
                      </a:r>
                      <a:endParaRPr lang="es-PE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050" dirty="0"/>
                        <a:t>LOC 2</a:t>
                      </a:r>
                      <a:endParaRPr lang="es-PE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050" dirty="0"/>
                        <a:t>SEG (SEGMENTO, TOTAL DE TABLAS) </a:t>
                      </a:r>
                      <a:endParaRPr lang="es-PE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050" dirty="0">
                          <a:solidFill>
                            <a:schemeClr val="accent2"/>
                          </a:solidFill>
                        </a:rPr>
                        <a:t>TBLS</a:t>
                      </a:r>
                      <a:endParaRPr lang="es-PE" sz="105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9900059"/>
                  </a:ext>
                </a:extLst>
              </a:tr>
              <a:tr h="653489">
                <a:tc>
                  <a:txBody>
                    <a:bodyPr/>
                    <a:lstStyle/>
                    <a:p>
                      <a:r>
                        <a:rPr lang="es-MX" sz="1050" dirty="0"/>
                        <a:t>002</a:t>
                      </a:r>
                      <a:endParaRPr lang="es-PE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050" dirty="0"/>
                        <a:t>R</a:t>
                      </a:r>
                      <a:endParaRPr lang="es-PE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050" dirty="0"/>
                        <a:t>2</a:t>
                      </a:r>
                      <a:endParaRPr lang="es-PE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050" dirty="0"/>
                        <a:t>002</a:t>
                      </a:r>
                      <a:r>
                        <a:rPr lang="es-MX" sz="1050" dirty="0">
                          <a:solidFill>
                            <a:schemeClr val="accent2"/>
                          </a:solidFill>
                        </a:rPr>
                        <a:t>12345678</a:t>
                      </a:r>
                      <a:r>
                        <a:rPr lang="es-MX" sz="1050" dirty="0"/>
                        <a:t>/002</a:t>
                      </a:r>
                      <a:r>
                        <a:rPr lang="es-MX" sz="1050" dirty="0">
                          <a:solidFill>
                            <a:schemeClr val="accent2"/>
                          </a:solidFill>
                        </a:rPr>
                        <a:t>12345678</a:t>
                      </a:r>
                      <a:br>
                        <a:rPr lang="es-MX" sz="1050" dirty="0">
                          <a:solidFill>
                            <a:schemeClr val="accent2"/>
                          </a:solidFill>
                        </a:rPr>
                      </a:br>
                      <a:br>
                        <a:rPr lang="es-MX" sz="1050" dirty="0">
                          <a:solidFill>
                            <a:schemeClr val="accent2"/>
                          </a:solidFill>
                        </a:rPr>
                      </a:br>
                      <a:r>
                        <a:rPr lang="es-MX" sz="1050" dirty="0">
                          <a:solidFill>
                            <a:schemeClr val="tx1"/>
                          </a:solidFill>
                        </a:rPr>
                        <a:t>categoría</a:t>
                      </a:r>
                      <a:r>
                        <a:rPr lang="es-MX" sz="1050" dirty="0">
                          <a:solidFill>
                            <a:schemeClr val="accent2"/>
                          </a:solidFill>
                        </a:rPr>
                        <a:t>/</a:t>
                      </a:r>
                      <a:r>
                        <a:rPr lang="es-MX" sz="1050" dirty="0" err="1">
                          <a:solidFill>
                            <a:schemeClr val="accent2"/>
                          </a:solidFill>
                        </a:rPr>
                        <a:t>tbls</a:t>
                      </a:r>
                      <a:endParaRPr lang="es-PE" sz="105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0219402"/>
                  </a:ext>
                </a:extLst>
              </a:tr>
            </a:tbl>
          </a:graphicData>
        </a:graphic>
      </p:graphicFrame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FA622A2F-9A1E-04BC-5A95-4A793BD5F3D1}"/>
              </a:ext>
            </a:extLst>
          </p:cNvPr>
          <p:cNvCxnSpPr>
            <a:cxnSpLocks/>
          </p:cNvCxnSpPr>
          <p:nvPr/>
        </p:nvCxnSpPr>
        <p:spPr>
          <a:xfrm>
            <a:off x="8988552" y="3676383"/>
            <a:ext cx="1032178" cy="10843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F94E5A1D-0A49-4F42-3855-7DF30F2398F7}"/>
              </a:ext>
            </a:extLst>
          </p:cNvPr>
          <p:cNvCxnSpPr/>
          <p:nvPr/>
        </p:nvCxnSpPr>
        <p:spPr>
          <a:xfrm>
            <a:off x="8309708" y="3676383"/>
            <a:ext cx="868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ángulo 29">
            <a:extLst>
              <a:ext uri="{FF2B5EF4-FFF2-40B4-BE49-F238E27FC236}">
                <a16:creationId xmlns:a16="http://schemas.microsoft.com/office/drawing/2014/main" id="{D4471ADF-59BF-89D2-80D9-07367FF9AD68}"/>
              </a:ext>
            </a:extLst>
          </p:cNvPr>
          <p:cNvSpPr/>
          <p:nvPr/>
        </p:nvSpPr>
        <p:spPr>
          <a:xfrm>
            <a:off x="9671538" y="4150691"/>
            <a:ext cx="875561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Modal</a:t>
            </a:r>
            <a:endParaRPr lang="es-ES" sz="200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CD04481C-0F9F-88C0-7DBA-DD46B861EF7B}"/>
              </a:ext>
            </a:extLst>
          </p:cNvPr>
          <p:cNvSpPr/>
          <p:nvPr/>
        </p:nvSpPr>
        <p:spPr>
          <a:xfrm>
            <a:off x="7140370" y="4760685"/>
            <a:ext cx="4472099" cy="8412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C9B5FBF3-1615-520C-810F-4D214F490611}"/>
              </a:ext>
            </a:extLst>
          </p:cNvPr>
          <p:cNvSpPr/>
          <p:nvPr/>
        </p:nvSpPr>
        <p:spPr>
          <a:xfrm>
            <a:off x="7250549" y="4990135"/>
            <a:ext cx="425174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1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Mostrara información de categorías</a:t>
            </a:r>
          </a:p>
          <a:p>
            <a:pPr algn="ctr"/>
            <a:r>
              <a:rPr lang="es-ES" sz="1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(lo de la búsqueda de </a:t>
            </a:r>
            <a:r>
              <a:rPr lang="es-ES" sz="1200" dirty="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Categorias</a:t>
            </a:r>
            <a:r>
              <a:rPr lang="es-ES" sz="1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A2245 (Se puede reutilizar))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0D9148D8-DABB-CA58-4956-899E52047274}"/>
              </a:ext>
            </a:extLst>
          </p:cNvPr>
          <p:cNvSpPr/>
          <p:nvPr/>
        </p:nvSpPr>
        <p:spPr>
          <a:xfrm>
            <a:off x="1807050" y="5729133"/>
            <a:ext cx="4472099" cy="8412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8854CA0E-14D7-67C1-9BE2-6447F45980F0}"/>
              </a:ext>
            </a:extLst>
          </p:cNvPr>
          <p:cNvSpPr/>
          <p:nvPr/>
        </p:nvSpPr>
        <p:spPr>
          <a:xfrm>
            <a:off x="2542207" y="5918924"/>
            <a:ext cx="3001783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1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Puede tener apéndices(mas información) ,</a:t>
            </a:r>
          </a:p>
          <a:p>
            <a:pPr algn="ctr"/>
            <a:r>
              <a:rPr lang="es-ES" sz="1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si el campo tabla viene diferente a 8 ceros</a:t>
            </a: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BB53E093-4C34-CEDF-5C0E-A4C47A49D526}"/>
              </a:ext>
            </a:extLst>
          </p:cNvPr>
          <p:cNvSpPr/>
          <p:nvPr/>
        </p:nvSpPr>
        <p:spPr>
          <a:xfrm>
            <a:off x="4485834" y="5020912"/>
            <a:ext cx="875561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Modal</a:t>
            </a:r>
            <a:endParaRPr lang="es-ES" sz="200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36" name="Conector recto de flecha 35">
            <a:extLst>
              <a:ext uri="{FF2B5EF4-FFF2-40B4-BE49-F238E27FC236}">
                <a16:creationId xmlns:a16="http://schemas.microsoft.com/office/drawing/2014/main" id="{A489BC9B-79D6-55C8-F365-99A2D2EB42A2}"/>
              </a:ext>
            </a:extLst>
          </p:cNvPr>
          <p:cNvCxnSpPr>
            <a:cxnSpLocks/>
            <a:stCxn id="31" idx="1"/>
          </p:cNvCxnSpPr>
          <p:nvPr/>
        </p:nvCxnSpPr>
        <p:spPr>
          <a:xfrm flipH="1">
            <a:off x="4818888" y="5181309"/>
            <a:ext cx="2321482" cy="4602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ángulo 37">
            <a:extLst>
              <a:ext uri="{FF2B5EF4-FFF2-40B4-BE49-F238E27FC236}">
                <a16:creationId xmlns:a16="http://schemas.microsoft.com/office/drawing/2014/main" id="{F420BD1D-6591-D580-B7C4-5420986D634E}"/>
              </a:ext>
            </a:extLst>
          </p:cNvPr>
          <p:cNvSpPr/>
          <p:nvPr/>
        </p:nvSpPr>
        <p:spPr>
          <a:xfrm>
            <a:off x="541808" y="2601275"/>
            <a:ext cx="1496885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RESPUESTA</a:t>
            </a:r>
            <a:endParaRPr lang="es-ES" sz="200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DAF50421-A7A0-A49C-55D7-52ADBD5E254A}"/>
              </a:ext>
            </a:extLst>
          </p:cNvPr>
          <p:cNvSpPr/>
          <p:nvPr/>
        </p:nvSpPr>
        <p:spPr>
          <a:xfrm>
            <a:off x="537179" y="4092666"/>
            <a:ext cx="4249946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2000" dirty="0">
                <a:ln w="0"/>
                <a:solidFill>
                  <a:schemeClr val="accent5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Tabla cambia layout según categoría </a:t>
            </a:r>
          </a:p>
        </p:txBody>
      </p:sp>
    </p:spTree>
    <p:extLst>
      <p:ext uri="{BB962C8B-B14F-4D97-AF65-F5344CB8AC3E}">
        <p14:creationId xmlns:p14="http://schemas.microsoft.com/office/powerpoint/2010/main" val="42241602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B5CC5-5EAD-D9B1-B71E-66E34BE49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E89B300E-92B5-B52B-CA25-6F41FB8D4E65}"/>
              </a:ext>
            </a:extLst>
          </p:cNvPr>
          <p:cNvSpPr/>
          <p:nvPr/>
        </p:nvSpPr>
        <p:spPr>
          <a:xfrm>
            <a:off x="708229" y="507869"/>
            <a:ext cx="6723572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S900 -&gt;  Tabla A2372 (información viene en solo una trama) 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FB03145-3388-EE46-F0FE-33A1A83CB838}"/>
              </a:ext>
            </a:extLst>
          </p:cNvPr>
          <p:cNvSpPr/>
          <p:nvPr/>
        </p:nvSpPr>
        <p:spPr>
          <a:xfrm>
            <a:off x="708229" y="1438263"/>
            <a:ext cx="8362619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E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Filtros:</a:t>
            </a:r>
          </a:p>
          <a:p>
            <a:pPr lvl="1"/>
            <a:r>
              <a:rPr lang="es-E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Cat   -&gt; </a:t>
            </a:r>
            <a:r>
              <a:rPr lang="es-ES" dirty="0">
                <a:ln w="0"/>
                <a:solidFill>
                  <a:schemeClr val="accent4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**** (3 CARACTERES seleccionable solo 1) </a:t>
            </a:r>
            <a:r>
              <a:rPr lang="es-ES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 Obligatorio</a:t>
            </a:r>
          </a:p>
          <a:p>
            <a:pPr lvl="1"/>
            <a:r>
              <a:rPr lang="es-ES" dirty="0">
                <a:ln w="0"/>
                <a:solidFill>
                  <a:schemeClr val="accent4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TBL -&gt; **** (8 CARACTERES, solo 1) </a:t>
            </a:r>
            <a:r>
              <a:rPr lang="es-ES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 Obligatorio</a:t>
            </a:r>
          </a:p>
          <a:p>
            <a:pPr lvl="1"/>
            <a:endParaRPr lang="es-ES" dirty="0">
              <a:ln w="0"/>
              <a:solidFill>
                <a:schemeClr val="accent4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lvl="1"/>
            <a:endParaRPr lang="es-ES" dirty="0">
              <a:ln w="0"/>
              <a:solidFill>
                <a:schemeClr val="accent4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es-ES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9F773638-088E-9F8F-E4CF-A01BB0C483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1400819"/>
              </p:ext>
            </p:extLst>
          </p:nvPr>
        </p:nvGraphicFramePr>
        <p:xfrm>
          <a:off x="605816" y="2798066"/>
          <a:ext cx="10795659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7085">
                  <a:extLst>
                    <a:ext uri="{9D8B030D-6E8A-4147-A177-3AD203B41FA5}">
                      <a16:colId xmlns:a16="http://schemas.microsoft.com/office/drawing/2014/main" val="2533269336"/>
                    </a:ext>
                  </a:extLst>
                </a:gridCol>
                <a:gridCol w="2732651">
                  <a:extLst>
                    <a:ext uri="{9D8B030D-6E8A-4147-A177-3AD203B41FA5}">
                      <a16:colId xmlns:a16="http://schemas.microsoft.com/office/drawing/2014/main" val="2586967719"/>
                    </a:ext>
                  </a:extLst>
                </a:gridCol>
                <a:gridCol w="926975">
                  <a:extLst>
                    <a:ext uri="{9D8B030D-6E8A-4147-A177-3AD203B41FA5}">
                      <a16:colId xmlns:a16="http://schemas.microsoft.com/office/drawing/2014/main" val="3614429627"/>
                    </a:ext>
                  </a:extLst>
                </a:gridCol>
                <a:gridCol w="1542237">
                  <a:extLst>
                    <a:ext uri="{9D8B030D-6E8A-4147-A177-3AD203B41FA5}">
                      <a16:colId xmlns:a16="http://schemas.microsoft.com/office/drawing/2014/main" val="657969928"/>
                    </a:ext>
                  </a:extLst>
                </a:gridCol>
                <a:gridCol w="1542237">
                  <a:extLst>
                    <a:ext uri="{9D8B030D-6E8A-4147-A177-3AD203B41FA5}">
                      <a16:colId xmlns:a16="http://schemas.microsoft.com/office/drawing/2014/main" val="16470712"/>
                    </a:ext>
                  </a:extLst>
                </a:gridCol>
                <a:gridCol w="1542237">
                  <a:extLst>
                    <a:ext uri="{9D8B030D-6E8A-4147-A177-3AD203B41FA5}">
                      <a16:colId xmlns:a16="http://schemas.microsoft.com/office/drawing/2014/main" val="1792577836"/>
                    </a:ext>
                  </a:extLst>
                </a:gridCol>
                <a:gridCol w="1542237">
                  <a:extLst>
                    <a:ext uri="{9D8B030D-6E8A-4147-A177-3AD203B41FA5}">
                      <a16:colId xmlns:a16="http://schemas.microsoft.com/office/drawing/2014/main" val="18346877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sz="1100" dirty="0"/>
                        <a:t>CAT</a:t>
                      </a:r>
                      <a:endParaRPr lang="es-PE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100" dirty="0"/>
                        <a:t>FBA(FARE BASIS)</a:t>
                      </a:r>
                      <a:endParaRPr lang="es-PE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100" dirty="0"/>
                        <a:t>LOC1</a:t>
                      </a:r>
                      <a:endParaRPr lang="es-PE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100" dirty="0"/>
                        <a:t>LOC 2</a:t>
                      </a:r>
                      <a:endParaRPr lang="es-PE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100" dirty="0"/>
                        <a:t>SEG (SEGMENTO, TOTAL DE TABLAS) </a:t>
                      </a:r>
                      <a:endParaRPr lang="es-PE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100" dirty="0">
                          <a:solidFill>
                            <a:schemeClr val="accent2"/>
                          </a:solidFill>
                        </a:rPr>
                        <a:t>TBLS</a:t>
                      </a:r>
                      <a:endParaRPr lang="es-PE" sz="11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99000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sz="1100" dirty="0"/>
                        <a:t>002</a:t>
                      </a:r>
                      <a:endParaRPr lang="es-PE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100" dirty="0"/>
                        <a:t>R</a:t>
                      </a:r>
                      <a:endParaRPr lang="es-PE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100" dirty="0"/>
                        <a:t>2</a:t>
                      </a:r>
                      <a:endParaRPr lang="es-PE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100" dirty="0"/>
                        <a:t>002</a:t>
                      </a:r>
                      <a:r>
                        <a:rPr lang="es-MX" sz="1100" dirty="0">
                          <a:solidFill>
                            <a:schemeClr val="accent2"/>
                          </a:solidFill>
                        </a:rPr>
                        <a:t>12345678</a:t>
                      </a:r>
                      <a:r>
                        <a:rPr lang="es-MX" sz="1100" dirty="0"/>
                        <a:t>/002</a:t>
                      </a:r>
                      <a:r>
                        <a:rPr lang="es-MX" sz="1100" dirty="0">
                          <a:solidFill>
                            <a:schemeClr val="accent2"/>
                          </a:solidFill>
                        </a:rPr>
                        <a:t>12345678</a:t>
                      </a:r>
                      <a:br>
                        <a:rPr lang="es-MX" sz="1100" dirty="0">
                          <a:solidFill>
                            <a:schemeClr val="accent2"/>
                          </a:solidFill>
                        </a:rPr>
                      </a:br>
                      <a:br>
                        <a:rPr lang="es-MX" sz="1100" dirty="0">
                          <a:solidFill>
                            <a:schemeClr val="accent2"/>
                          </a:solidFill>
                        </a:rPr>
                      </a:br>
                      <a:r>
                        <a:rPr lang="es-MX" sz="1100" dirty="0">
                          <a:solidFill>
                            <a:schemeClr val="tx1"/>
                          </a:solidFill>
                        </a:rPr>
                        <a:t>categoría</a:t>
                      </a:r>
                      <a:r>
                        <a:rPr lang="es-MX" sz="1100" dirty="0">
                          <a:solidFill>
                            <a:schemeClr val="accent2"/>
                          </a:solidFill>
                        </a:rPr>
                        <a:t>/</a:t>
                      </a:r>
                      <a:r>
                        <a:rPr lang="es-MX" sz="1100" dirty="0" err="1">
                          <a:solidFill>
                            <a:schemeClr val="accent2"/>
                          </a:solidFill>
                        </a:rPr>
                        <a:t>tbls</a:t>
                      </a:r>
                      <a:endParaRPr lang="es-PE" sz="11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0219402"/>
                  </a:ext>
                </a:extLst>
              </a:tr>
            </a:tbl>
          </a:graphicData>
        </a:graphic>
      </p:graphicFrame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51397A25-8CFD-2A3B-98ED-FA8CE117D22A}"/>
              </a:ext>
            </a:extLst>
          </p:cNvPr>
          <p:cNvCxnSpPr>
            <a:cxnSpLocks/>
          </p:cNvCxnSpPr>
          <p:nvPr/>
        </p:nvCxnSpPr>
        <p:spPr>
          <a:xfrm>
            <a:off x="9024034" y="3468233"/>
            <a:ext cx="1060704" cy="11887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45970807-D691-6413-5199-02EDE4304A23}"/>
              </a:ext>
            </a:extLst>
          </p:cNvPr>
          <p:cNvCxnSpPr/>
          <p:nvPr/>
        </p:nvCxnSpPr>
        <p:spPr>
          <a:xfrm>
            <a:off x="8383954" y="3408059"/>
            <a:ext cx="868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ángulo 6">
            <a:extLst>
              <a:ext uri="{FF2B5EF4-FFF2-40B4-BE49-F238E27FC236}">
                <a16:creationId xmlns:a16="http://schemas.microsoft.com/office/drawing/2014/main" id="{78E6F1EC-FCC9-D92B-F608-DDABE59F2EDF}"/>
              </a:ext>
            </a:extLst>
          </p:cNvPr>
          <p:cNvSpPr/>
          <p:nvPr/>
        </p:nvSpPr>
        <p:spPr>
          <a:xfrm>
            <a:off x="9735546" y="4046959"/>
            <a:ext cx="875561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Modal</a:t>
            </a:r>
            <a:endParaRPr lang="es-ES" sz="200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FC34402-30C2-93DB-6BD5-60E695F8DDEF}"/>
              </a:ext>
            </a:extLst>
          </p:cNvPr>
          <p:cNvSpPr/>
          <p:nvPr/>
        </p:nvSpPr>
        <p:spPr>
          <a:xfrm>
            <a:off x="7204378" y="4656953"/>
            <a:ext cx="4472099" cy="8412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E3C21D8-F0E2-A5F8-5252-FD9D6E1AF04D}"/>
              </a:ext>
            </a:extLst>
          </p:cNvPr>
          <p:cNvSpPr/>
          <p:nvPr/>
        </p:nvSpPr>
        <p:spPr>
          <a:xfrm>
            <a:off x="7314557" y="4886403"/>
            <a:ext cx="425174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1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Mostrara información de categorías</a:t>
            </a:r>
          </a:p>
          <a:p>
            <a:pPr algn="ctr"/>
            <a:r>
              <a:rPr lang="es-ES" sz="1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(lo de la búsqueda de </a:t>
            </a:r>
            <a:r>
              <a:rPr lang="es-ES" sz="1200" dirty="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Categorias</a:t>
            </a:r>
            <a:r>
              <a:rPr lang="es-ES" sz="1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A2245 (Se puede reutilizar))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6876E2C-ECDD-C982-F75E-9C110348AC9F}"/>
              </a:ext>
            </a:extLst>
          </p:cNvPr>
          <p:cNvSpPr/>
          <p:nvPr/>
        </p:nvSpPr>
        <p:spPr>
          <a:xfrm>
            <a:off x="1871058" y="5625401"/>
            <a:ext cx="4472099" cy="8412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0847EFF-4FC9-60E5-8BC4-D0F427698B43}"/>
              </a:ext>
            </a:extLst>
          </p:cNvPr>
          <p:cNvSpPr/>
          <p:nvPr/>
        </p:nvSpPr>
        <p:spPr>
          <a:xfrm>
            <a:off x="2606215" y="5815192"/>
            <a:ext cx="3001783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1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Puede tener apéndices(mas información) ,</a:t>
            </a:r>
          </a:p>
          <a:p>
            <a:pPr algn="ctr"/>
            <a:r>
              <a:rPr lang="es-ES" sz="1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si el campo tabla viene diferente a 8 ceros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84DFD973-8FA1-AC34-A671-810B9C80F70B}"/>
              </a:ext>
            </a:extLst>
          </p:cNvPr>
          <p:cNvSpPr/>
          <p:nvPr/>
        </p:nvSpPr>
        <p:spPr>
          <a:xfrm>
            <a:off x="4549842" y="4917180"/>
            <a:ext cx="875561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Modal</a:t>
            </a:r>
            <a:endParaRPr lang="es-ES" sz="200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1FEEC217-E906-6E13-9D6D-9ED719BE9BF4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4882896" y="5077577"/>
            <a:ext cx="2321482" cy="4602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ángulo 14">
            <a:extLst>
              <a:ext uri="{FF2B5EF4-FFF2-40B4-BE49-F238E27FC236}">
                <a16:creationId xmlns:a16="http://schemas.microsoft.com/office/drawing/2014/main" id="{7A0E43F0-F048-58A1-E0FA-F29BB4F3AE2E}"/>
              </a:ext>
            </a:extLst>
          </p:cNvPr>
          <p:cNvSpPr/>
          <p:nvPr/>
        </p:nvSpPr>
        <p:spPr>
          <a:xfrm>
            <a:off x="605816" y="2397956"/>
            <a:ext cx="1496885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RESPUESTA</a:t>
            </a:r>
            <a:endParaRPr lang="es-ES" sz="200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484211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B8464-0FB6-DAAC-ADC3-FCCA91089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82087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514E6-0AA9-CCA3-B2FE-A05107D9B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54429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309</TotalTime>
  <Words>1157</Words>
  <Application>Microsoft Office PowerPoint</Application>
  <PresentationFormat>Panorámica</PresentationFormat>
  <Paragraphs>212</Paragraphs>
  <Slides>16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Yadira Yamilet Remicio Gonzales</dc:creator>
  <cp:lastModifiedBy>Yadira Yamilet Remicio Gonzales</cp:lastModifiedBy>
  <cp:revision>23</cp:revision>
  <dcterms:created xsi:type="dcterms:W3CDTF">2026-07-01T17:01:03Z</dcterms:created>
  <dcterms:modified xsi:type="dcterms:W3CDTF">2026-07-03T21:33:26Z</dcterms:modified>
</cp:coreProperties>
</file>